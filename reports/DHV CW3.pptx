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4" r:id="rId18"/>
    <p:sldId id="280" r:id="rId19"/>
    <p:sldId id="282" r:id="rId20"/>
    <p:sldId id="284" r:id="rId21"/>
    <p:sldId id="285" r:id="rId22"/>
    <p:sldId id="273" r:id="rId23"/>
    <p:sldId id="275" r:id="rId24"/>
    <p:sldId id="283" r:id="rId25"/>
    <p:sldId id="277" r:id="rId26"/>
    <p:sldId id="278" r:id="rId27"/>
    <p:sldId id="279" r:id="rId28"/>
  </p:sldIdLst>
  <p:sldSz cx="18288000" cy="10287000"/>
  <p:notesSz cx="6858000" cy="9144000"/>
  <p:embeddedFontLst>
    <p:embeddedFont>
      <p:font typeface="Inter 1" panose="020B0604020202020204" charset="0"/>
      <p:regular r:id="rId29"/>
    </p:embeddedFont>
    <p:embeddedFont>
      <p:font typeface="Inter 1 Bold" panose="020B0604020202020204" charset="0"/>
      <p:regular r:id="rId30"/>
    </p:embeddedFont>
    <p:embeddedFont>
      <p:font typeface="Inter 1 Italics" panose="020B0604020202020204" charset="0"/>
      <p:regular r:id="rId31"/>
    </p:embeddedFont>
    <p:embeddedFont>
      <p:font typeface="Inter 1 Light" panose="020B0604020202020204" charset="0"/>
      <p:regular r:id="rId32"/>
    </p:embeddedFont>
    <p:embeddedFont>
      <p:font typeface="Inter 2" panose="020B0604020202020204" charset="0"/>
      <p:regular r:id="rId33"/>
    </p:embeddedFont>
    <p:embeddedFont>
      <p:font typeface="Inter 2 Bold" panose="020B0604020202020204" charset="0"/>
      <p:regular r:id="rId34"/>
    </p:embeddedFont>
    <p:embeddedFont>
      <p:font typeface="Inter 2 Italics" panose="020B0604020202020204" charset="0"/>
      <p:regular r:id="rId35"/>
    </p:embeddedFont>
    <p:embeddedFont>
      <p:font typeface="Inter 2 Light" panose="020B0604020202020204" charset="0"/>
      <p:regular r:id="rId36"/>
    </p:embeddedFont>
    <p:embeddedFont>
      <p:font typeface="Open Sans 1" panose="020B0604020202020204" charset="0"/>
      <p:regular r:id="rId37"/>
    </p:embeddedFont>
    <p:embeddedFont>
      <p:font typeface="Open Sans 1 Bold" panose="020B0604020202020204" charset="0"/>
      <p:regular r:id="rId38"/>
    </p:embeddedFont>
    <p:embeddedFont>
      <p:font typeface="Open Sans 2 Bold"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1014" y="2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sp>
        <p:nvSpPr>
          <p:cNvPr id="2" name="TextBox 2"/>
          <p:cNvSpPr txBox="1"/>
          <p:nvPr/>
        </p:nvSpPr>
        <p:spPr>
          <a:xfrm>
            <a:off x="817193" y="2979174"/>
            <a:ext cx="16653614" cy="2934305"/>
          </a:xfrm>
          <a:prstGeom prst="rect">
            <a:avLst/>
          </a:prstGeom>
        </p:spPr>
        <p:txBody>
          <a:bodyPr lIns="0" tIns="0" rIns="0" bIns="0" rtlCol="0" anchor="t">
            <a:spAutoFit/>
          </a:bodyPr>
          <a:lstStyle/>
          <a:p>
            <a:pPr algn="ctr">
              <a:lnSpc>
                <a:spcPts val="7841"/>
              </a:lnSpc>
            </a:pPr>
            <a:r>
              <a:rPr lang="en-US" sz="5601" b="1">
                <a:solidFill>
                  <a:srgbClr val="000000"/>
                </a:solidFill>
                <a:latin typeface="Inter 1 Bold"/>
                <a:ea typeface="Inter 1 Bold"/>
                <a:cs typeface="Inter 1 Bold"/>
                <a:sym typeface="Inter 1 Bold"/>
              </a:rPr>
              <a:t>ANALYSIS OF GDP PER CAPITA </a:t>
            </a:r>
          </a:p>
          <a:p>
            <a:pPr algn="ctr">
              <a:lnSpc>
                <a:spcPts val="7841"/>
              </a:lnSpc>
            </a:pPr>
            <a:r>
              <a:rPr lang="en-US" sz="5601" b="1">
                <a:solidFill>
                  <a:srgbClr val="000000"/>
                </a:solidFill>
                <a:latin typeface="Inter 1 Bold"/>
                <a:ea typeface="Inter 1 Bold"/>
                <a:cs typeface="Inter 1 Bold"/>
                <a:sym typeface="Inter 1 Bold"/>
              </a:rPr>
              <a:t>AND </a:t>
            </a:r>
          </a:p>
          <a:p>
            <a:pPr algn="ctr">
              <a:lnSpc>
                <a:spcPts val="7841"/>
              </a:lnSpc>
            </a:pPr>
            <a:r>
              <a:rPr lang="en-US" sz="5601" b="1">
                <a:solidFill>
                  <a:srgbClr val="000000"/>
                </a:solidFill>
                <a:latin typeface="Inter 1 Bold"/>
                <a:ea typeface="Inter 1 Bold"/>
                <a:cs typeface="Inter 1 Bold"/>
                <a:sym typeface="Inter 1 Bold"/>
              </a:rPr>
              <a:t>LIFE EXPECTANCY</a:t>
            </a:r>
          </a:p>
        </p:txBody>
      </p:sp>
      <p:grpSp>
        <p:nvGrpSpPr>
          <p:cNvPr id="3" name="Group 3"/>
          <p:cNvGrpSpPr/>
          <p:nvPr/>
        </p:nvGrpSpPr>
        <p:grpSpPr>
          <a:xfrm>
            <a:off x="4155132" y="5913479"/>
            <a:ext cx="9977737" cy="47625"/>
            <a:chOff x="0" y="0"/>
            <a:chExt cx="2627881" cy="12543"/>
          </a:xfrm>
        </p:grpSpPr>
        <p:sp>
          <p:nvSpPr>
            <p:cNvPr id="4" name="Freeform 4"/>
            <p:cNvSpPr/>
            <p:nvPr/>
          </p:nvSpPr>
          <p:spPr>
            <a:xfrm>
              <a:off x="0" y="0"/>
              <a:ext cx="2627881" cy="12543"/>
            </a:xfrm>
            <a:custGeom>
              <a:avLst/>
              <a:gdLst/>
              <a:ahLst/>
              <a:cxnLst/>
              <a:rect l="l" t="t" r="r" b="b"/>
              <a:pathLst>
                <a:path w="2627881" h="12543">
                  <a:moveTo>
                    <a:pt x="0" y="0"/>
                  </a:moveTo>
                  <a:lnTo>
                    <a:pt x="2627881" y="0"/>
                  </a:lnTo>
                  <a:lnTo>
                    <a:pt x="2627881" y="12543"/>
                  </a:lnTo>
                  <a:lnTo>
                    <a:pt x="0" y="12543"/>
                  </a:lnTo>
                  <a:close/>
                </a:path>
              </a:pathLst>
            </a:custGeom>
            <a:solidFill>
              <a:srgbClr val="000000"/>
            </a:solidFill>
          </p:spPr>
          <p:txBody>
            <a:bodyPr/>
            <a:lstStyle/>
            <a:p>
              <a:endParaRPr lang="en-SG"/>
            </a:p>
          </p:txBody>
        </p:sp>
        <p:sp>
          <p:nvSpPr>
            <p:cNvPr id="5" name="TextBox 5"/>
            <p:cNvSpPr txBox="1"/>
            <p:nvPr/>
          </p:nvSpPr>
          <p:spPr>
            <a:xfrm>
              <a:off x="0" y="-38100"/>
              <a:ext cx="2627881" cy="5064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869019" y="6046916"/>
            <a:ext cx="6549961" cy="622935"/>
          </a:xfrm>
          <a:prstGeom prst="rect">
            <a:avLst/>
          </a:prstGeom>
        </p:spPr>
        <p:txBody>
          <a:bodyPr lIns="0" tIns="0" rIns="0" bIns="0" rtlCol="0" anchor="t">
            <a:spAutoFit/>
          </a:bodyPr>
          <a:lstStyle/>
          <a:p>
            <a:pPr algn="ctr">
              <a:lnSpc>
                <a:spcPts val="5040"/>
              </a:lnSpc>
            </a:pPr>
            <a:r>
              <a:rPr lang="en-US" sz="3600" spc="900">
                <a:solidFill>
                  <a:srgbClr val="000000"/>
                </a:solidFill>
                <a:latin typeface="Inter 1 Light"/>
                <a:ea typeface="Inter 1 Light"/>
                <a:cs typeface="Inter 1 Light"/>
                <a:sym typeface="Inter 1 Light"/>
              </a:rPr>
              <a:t>LEE LING JUN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sp>
        <p:nvSpPr>
          <p:cNvPr id="2" name="TextBox 2"/>
          <p:cNvSpPr txBox="1"/>
          <p:nvPr/>
        </p:nvSpPr>
        <p:spPr>
          <a:xfrm>
            <a:off x="1684120" y="2081995"/>
            <a:ext cx="4648252" cy="746211"/>
          </a:xfrm>
          <a:prstGeom prst="rect">
            <a:avLst/>
          </a:prstGeom>
        </p:spPr>
        <p:txBody>
          <a:bodyPr lIns="0" tIns="0" rIns="0" bIns="0" rtlCol="0" anchor="t">
            <a:spAutoFit/>
          </a:bodyPr>
          <a:lstStyle/>
          <a:p>
            <a:pPr algn="l">
              <a:lnSpc>
                <a:spcPts val="6120"/>
              </a:lnSpc>
            </a:pPr>
            <a:r>
              <a:rPr lang="en-US" sz="4371" b="1">
                <a:solidFill>
                  <a:srgbClr val="000000"/>
                </a:solidFill>
                <a:latin typeface="Inter 1 Bold"/>
                <a:ea typeface="Inter 1 Bold"/>
                <a:cs typeface="Inter 1 Bold"/>
                <a:sym typeface="Inter 1 Bold"/>
              </a:rPr>
              <a:t>INTRODUCTION</a:t>
            </a:r>
          </a:p>
        </p:txBody>
      </p:sp>
      <p:sp>
        <p:nvSpPr>
          <p:cNvPr id="3" name="TextBox 3"/>
          <p:cNvSpPr txBox="1"/>
          <p:nvPr/>
        </p:nvSpPr>
        <p:spPr>
          <a:xfrm>
            <a:off x="1684120" y="2902265"/>
            <a:ext cx="5462182" cy="1125580"/>
          </a:xfrm>
          <a:prstGeom prst="rect">
            <a:avLst/>
          </a:prstGeom>
        </p:spPr>
        <p:txBody>
          <a:bodyPr lIns="0" tIns="0" rIns="0" bIns="0" rtlCol="0" anchor="t">
            <a:spAutoFit/>
          </a:bodyPr>
          <a:lstStyle/>
          <a:p>
            <a:pPr marL="471916" lvl="1" indent="-235958" algn="l">
              <a:lnSpc>
                <a:spcPts val="3060"/>
              </a:lnSpc>
              <a:buFont typeface="Arial"/>
              <a:buChar char="•"/>
            </a:pPr>
            <a:r>
              <a:rPr lang="en-US" sz="2185">
                <a:solidFill>
                  <a:srgbClr val="000000"/>
                </a:solidFill>
                <a:latin typeface="Inter 1"/>
                <a:ea typeface="Inter 1"/>
                <a:cs typeface="Inter 1"/>
                <a:sym typeface="Inter 1"/>
              </a:rPr>
              <a:t>Background motivation</a:t>
            </a:r>
          </a:p>
          <a:p>
            <a:pPr marL="471916" lvl="1" indent="-235958" algn="l">
              <a:lnSpc>
                <a:spcPts val="3060"/>
              </a:lnSpc>
              <a:buFont typeface="Arial"/>
              <a:buChar char="•"/>
            </a:pPr>
            <a:r>
              <a:rPr lang="en-US" sz="2185">
                <a:solidFill>
                  <a:srgbClr val="000000"/>
                </a:solidFill>
                <a:latin typeface="Inter 1"/>
                <a:ea typeface="Inter 1"/>
                <a:cs typeface="Inter 1"/>
                <a:sym typeface="Inter 1"/>
              </a:rPr>
              <a:t>Research Question &amp; Objectives</a:t>
            </a:r>
          </a:p>
          <a:p>
            <a:pPr marL="471916" lvl="1" indent="-235958" algn="l">
              <a:lnSpc>
                <a:spcPts val="3060"/>
              </a:lnSpc>
              <a:buFont typeface="Arial"/>
              <a:buChar char="•"/>
            </a:pPr>
            <a:r>
              <a:rPr lang="en-US" sz="2185">
                <a:solidFill>
                  <a:srgbClr val="000000"/>
                </a:solidFill>
                <a:latin typeface="Inter 1"/>
                <a:ea typeface="Inter 1"/>
                <a:cs typeface="Inter 1"/>
                <a:sym typeface="Inter 1"/>
              </a:rPr>
              <a:t>Analysis Scope</a:t>
            </a:r>
          </a:p>
        </p:txBody>
      </p:sp>
      <p:sp>
        <p:nvSpPr>
          <p:cNvPr id="4" name="TextBox 4"/>
          <p:cNvSpPr txBox="1"/>
          <p:nvPr/>
        </p:nvSpPr>
        <p:spPr>
          <a:xfrm>
            <a:off x="1684120" y="4504095"/>
            <a:ext cx="6722770" cy="746211"/>
          </a:xfrm>
          <a:prstGeom prst="rect">
            <a:avLst/>
          </a:prstGeom>
        </p:spPr>
        <p:txBody>
          <a:bodyPr lIns="0" tIns="0" rIns="0" bIns="0" rtlCol="0" anchor="t">
            <a:spAutoFit/>
          </a:bodyPr>
          <a:lstStyle/>
          <a:p>
            <a:pPr algn="l">
              <a:lnSpc>
                <a:spcPts val="6120"/>
              </a:lnSpc>
            </a:pPr>
            <a:r>
              <a:rPr lang="en-US" sz="4371" b="1">
                <a:solidFill>
                  <a:srgbClr val="000000"/>
                </a:solidFill>
                <a:latin typeface="Inter 1 Bold"/>
                <a:ea typeface="Inter 1 Bold"/>
                <a:cs typeface="Inter 1 Bold"/>
                <a:sym typeface="Inter 1 Bold"/>
              </a:rPr>
              <a:t>DATASET OVERVIEW</a:t>
            </a:r>
          </a:p>
        </p:txBody>
      </p:sp>
      <p:sp>
        <p:nvSpPr>
          <p:cNvPr id="5" name="TextBox 5"/>
          <p:cNvSpPr txBox="1"/>
          <p:nvPr/>
        </p:nvSpPr>
        <p:spPr>
          <a:xfrm>
            <a:off x="1684120" y="5324366"/>
            <a:ext cx="5462182" cy="744580"/>
          </a:xfrm>
          <a:prstGeom prst="rect">
            <a:avLst/>
          </a:prstGeom>
        </p:spPr>
        <p:txBody>
          <a:bodyPr lIns="0" tIns="0" rIns="0" bIns="0" rtlCol="0" anchor="t">
            <a:spAutoFit/>
          </a:bodyPr>
          <a:lstStyle/>
          <a:p>
            <a:pPr marL="471916" lvl="1" indent="-235958" algn="l">
              <a:lnSpc>
                <a:spcPts val="3060"/>
              </a:lnSpc>
              <a:buFont typeface="Arial"/>
              <a:buChar char="•"/>
            </a:pPr>
            <a:r>
              <a:rPr lang="en-US" sz="2185">
                <a:solidFill>
                  <a:srgbClr val="000000"/>
                </a:solidFill>
                <a:latin typeface="Inter 1"/>
                <a:ea typeface="Inter 1"/>
                <a:cs typeface="Inter 1"/>
                <a:sym typeface="Inter 1"/>
              </a:rPr>
              <a:t>Dataset Source &amp; Accessibilities</a:t>
            </a:r>
          </a:p>
          <a:p>
            <a:pPr marL="471916" lvl="1" indent="-235958" algn="l">
              <a:lnSpc>
                <a:spcPts val="3060"/>
              </a:lnSpc>
              <a:buFont typeface="Arial"/>
              <a:buChar char="•"/>
            </a:pPr>
            <a:r>
              <a:rPr lang="en-US" sz="2185">
                <a:solidFill>
                  <a:srgbClr val="000000"/>
                </a:solidFill>
                <a:latin typeface="Inter 1"/>
                <a:ea typeface="Inter 1"/>
                <a:cs typeface="Inter 1"/>
                <a:sym typeface="Inter 1"/>
              </a:rPr>
              <a:t>Key Variables and Structure</a:t>
            </a:r>
          </a:p>
        </p:txBody>
      </p:sp>
      <p:sp>
        <p:nvSpPr>
          <p:cNvPr id="6" name="TextBox 6"/>
          <p:cNvSpPr txBox="1"/>
          <p:nvPr/>
        </p:nvSpPr>
        <p:spPr>
          <a:xfrm>
            <a:off x="1684120" y="6545196"/>
            <a:ext cx="5462182" cy="746211"/>
          </a:xfrm>
          <a:prstGeom prst="rect">
            <a:avLst/>
          </a:prstGeom>
        </p:spPr>
        <p:txBody>
          <a:bodyPr lIns="0" tIns="0" rIns="0" bIns="0" rtlCol="0" anchor="t">
            <a:spAutoFit/>
          </a:bodyPr>
          <a:lstStyle/>
          <a:p>
            <a:pPr algn="l">
              <a:lnSpc>
                <a:spcPts val="6120"/>
              </a:lnSpc>
            </a:pPr>
            <a:r>
              <a:rPr lang="en-US" sz="4371" b="1">
                <a:solidFill>
                  <a:srgbClr val="000000"/>
                </a:solidFill>
                <a:latin typeface="Inter 1 Bold"/>
                <a:ea typeface="Inter 1 Bold"/>
                <a:cs typeface="Inter 1 Bold"/>
                <a:sym typeface="Inter 1 Bold"/>
              </a:rPr>
              <a:t>PRE-PROCESSING</a:t>
            </a:r>
          </a:p>
        </p:txBody>
      </p:sp>
      <p:sp>
        <p:nvSpPr>
          <p:cNvPr id="7" name="TextBox 7"/>
          <p:cNvSpPr txBox="1"/>
          <p:nvPr/>
        </p:nvSpPr>
        <p:spPr>
          <a:xfrm>
            <a:off x="1684120" y="7365466"/>
            <a:ext cx="7848571" cy="1506580"/>
          </a:xfrm>
          <a:prstGeom prst="rect">
            <a:avLst/>
          </a:prstGeom>
        </p:spPr>
        <p:txBody>
          <a:bodyPr lIns="0" tIns="0" rIns="0" bIns="0" rtlCol="0" anchor="t">
            <a:spAutoFit/>
          </a:bodyPr>
          <a:lstStyle/>
          <a:p>
            <a:pPr marL="471916" lvl="1" indent="-235958" algn="l">
              <a:lnSpc>
                <a:spcPts val="3060"/>
              </a:lnSpc>
              <a:buFont typeface="Arial"/>
              <a:buChar char="•"/>
            </a:pPr>
            <a:r>
              <a:rPr lang="en-US" sz="2185">
                <a:solidFill>
                  <a:srgbClr val="000000"/>
                </a:solidFill>
                <a:latin typeface="Inter 1"/>
                <a:ea typeface="Inter 1"/>
                <a:cs typeface="Inter 1"/>
                <a:sym typeface="Inter 1"/>
              </a:rPr>
              <a:t>Merging data sets</a:t>
            </a:r>
          </a:p>
          <a:p>
            <a:pPr marL="471916" lvl="1" indent="-235958" algn="l">
              <a:lnSpc>
                <a:spcPts val="3060"/>
              </a:lnSpc>
              <a:buFont typeface="Arial"/>
              <a:buChar char="•"/>
            </a:pPr>
            <a:r>
              <a:rPr lang="en-US" sz="2185">
                <a:solidFill>
                  <a:srgbClr val="000000"/>
                </a:solidFill>
                <a:latin typeface="Inter 1"/>
                <a:ea typeface="Inter 1"/>
                <a:cs typeface="Inter 1"/>
                <a:sym typeface="Inter 1"/>
              </a:rPr>
              <a:t>Cleaning and Transformation of variables.</a:t>
            </a:r>
          </a:p>
          <a:p>
            <a:pPr marL="471916" lvl="1" indent="-235958" algn="l">
              <a:lnSpc>
                <a:spcPts val="3060"/>
              </a:lnSpc>
              <a:buFont typeface="Arial"/>
              <a:buChar char="•"/>
            </a:pPr>
            <a:r>
              <a:rPr lang="en-US" sz="2185">
                <a:solidFill>
                  <a:srgbClr val="000000"/>
                </a:solidFill>
                <a:latin typeface="Inter 1"/>
                <a:ea typeface="Inter 1"/>
                <a:cs typeface="Inter 1"/>
                <a:sym typeface="Inter 1"/>
              </a:rPr>
              <a:t>Handling Missing values and outliers.</a:t>
            </a:r>
          </a:p>
          <a:p>
            <a:pPr marL="471916" lvl="1" indent="-235958" algn="l">
              <a:lnSpc>
                <a:spcPts val="3060"/>
              </a:lnSpc>
              <a:buFont typeface="Arial"/>
              <a:buChar char="•"/>
            </a:pPr>
            <a:r>
              <a:rPr lang="en-US" sz="2185">
                <a:solidFill>
                  <a:srgbClr val="000000"/>
                </a:solidFill>
                <a:latin typeface="Inter 1"/>
                <a:ea typeface="Inter 1"/>
                <a:cs typeface="Inter 1"/>
                <a:sym typeface="Inter 1"/>
              </a:rPr>
              <a:t>Engineered Features</a:t>
            </a:r>
          </a:p>
        </p:txBody>
      </p:sp>
      <p:sp>
        <p:nvSpPr>
          <p:cNvPr id="8" name="TextBox 8"/>
          <p:cNvSpPr txBox="1"/>
          <p:nvPr/>
        </p:nvSpPr>
        <p:spPr>
          <a:xfrm>
            <a:off x="8877271" y="2081995"/>
            <a:ext cx="9225334" cy="746211"/>
          </a:xfrm>
          <a:prstGeom prst="rect">
            <a:avLst/>
          </a:prstGeom>
        </p:spPr>
        <p:txBody>
          <a:bodyPr lIns="0" tIns="0" rIns="0" bIns="0" rtlCol="0" anchor="t">
            <a:spAutoFit/>
          </a:bodyPr>
          <a:lstStyle/>
          <a:p>
            <a:pPr algn="l">
              <a:lnSpc>
                <a:spcPts val="6120"/>
              </a:lnSpc>
            </a:pPr>
            <a:r>
              <a:rPr lang="en-US" sz="4371" b="1">
                <a:solidFill>
                  <a:srgbClr val="000000"/>
                </a:solidFill>
                <a:latin typeface="Inter 1 Bold"/>
                <a:ea typeface="Inter 1 Bold"/>
                <a:cs typeface="Inter 1 Bold"/>
                <a:sym typeface="Inter 1 Bold"/>
              </a:rPr>
              <a:t>EXPLORATORY DATA ANALYSIS</a:t>
            </a:r>
          </a:p>
        </p:txBody>
      </p:sp>
      <p:sp>
        <p:nvSpPr>
          <p:cNvPr id="9" name="TextBox 9"/>
          <p:cNvSpPr txBox="1"/>
          <p:nvPr/>
        </p:nvSpPr>
        <p:spPr>
          <a:xfrm>
            <a:off x="8877271" y="2902265"/>
            <a:ext cx="5462182" cy="1125580"/>
          </a:xfrm>
          <a:prstGeom prst="rect">
            <a:avLst/>
          </a:prstGeom>
        </p:spPr>
        <p:txBody>
          <a:bodyPr lIns="0" tIns="0" rIns="0" bIns="0" rtlCol="0" anchor="t">
            <a:spAutoFit/>
          </a:bodyPr>
          <a:lstStyle/>
          <a:p>
            <a:pPr marL="471916" lvl="1" indent="-235958" algn="l">
              <a:lnSpc>
                <a:spcPts val="3060"/>
              </a:lnSpc>
              <a:buFont typeface="Arial"/>
              <a:buChar char="•"/>
            </a:pPr>
            <a:r>
              <a:rPr lang="en-US" sz="2185">
                <a:solidFill>
                  <a:srgbClr val="000000"/>
                </a:solidFill>
                <a:latin typeface="Inter 1"/>
                <a:ea typeface="Inter 1"/>
                <a:cs typeface="Inter 1"/>
                <a:sym typeface="Inter 1"/>
              </a:rPr>
              <a:t>Descriptive Statistics</a:t>
            </a:r>
          </a:p>
          <a:p>
            <a:pPr marL="471916" lvl="1" indent="-235958" algn="l">
              <a:lnSpc>
                <a:spcPts val="3060"/>
              </a:lnSpc>
              <a:buFont typeface="Arial"/>
              <a:buChar char="•"/>
            </a:pPr>
            <a:r>
              <a:rPr lang="en-US" sz="2185">
                <a:solidFill>
                  <a:srgbClr val="000000"/>
                </a:solidFill>
                <a:latin typeface="Inter 1"/>
                <a:ea typeface="Inter 1"/>
                <a:cs typeface="Inter 1"/>
                <a:sym typeface="Inter 1"/>
              </a:rPr>
              <a:t>Missing Data</a:t>
            </a:r>
          </a:p>
          <a:p>
            <a:pPr marL="471916" lvl="1" indent="-235958" algn="l">
              <a:lnSpc>
                <a:spcPts val="3060"/>
              </a:lnSpc>
              <a:buFont typeface="Arial"/>
              <a:buChar char="•"/>
            </a:pPr>
            <a:r>
              <a:rPr lang="en-US" sz="2185">
                <a:solidFill>
                  <a:srgbClr val="000000"/>
                </a:solidFill>
                <a:latin typeface="Inter 1"/>
                <a:ea typeface="Inter 1"/>
                <a:cs typeface="Inter 1"/>
                <a:sym typeface="Inter 1"/>
              </a:rPr>
              <a:t>Data Quality</a:t>
            </a:r>
          </a:p>
        </p:txBody>
      </p:sp>
      <p:sp>
        <p:nvSpPr>
          <p:cNvPr id="10" name="TextBox 10"/>
          <p:cNvSpPr txBox="1"/>
          <p:nvPr/>
        </p:nvSpPr>
        <p:spPr>
          <a:xfrm>
            <a:off x="8877271" y="4105457"/>
            <a:ext cx="7283608" cy="746211"/>
          </a:xfrm>
          <a:prstGeom prst="rect">
            <a:avLst/>
          </a:prstGeom>
        </p:spPr>
        <p:txBody>
          <a:bodyPr lIns="0" tIns="0" rIns="0" bIns="0" rtlCol="0" anchor="t">
            <a:spAutoFit/>
          </a:bodyPr>
          <a:lstStyle/>
          <a:p>
            <a:pPr algn="l">
              <a:lnSpc>
                <a:spcPts val="6120"/>
              </a:lnSpc>
            </a:pPr>
            <a:r>
              <a:rPr lang="en-US" sz="4371" b="1">
                <a:solidFill>
                  <a:srgbClr val="000000"/>
                </a:solidFill>
                <a:latin typeface="Inter 1 Bold"/>
                <a:ea typeface="Inter 1 Bold"/>
                <a:cs typeface="Inter 1 Bold"/>
                <a:sym typeface="Inter 1 Bold"/>
              </a:rPr>
              <a:t>ANALYSIS &amp; FINDINGS</a:t>
            </a:r>
          </a:p>
        </p:txBody>
      </p:sp>
      <p:sp>
        <p:nvSpPr>
          <p:cNvPr id="11" name="TextBox 11"/>
          <p:cNvSpPr txBox="1"/>
          <p:nvPr/>
        </p:nvSpPr>
        <p:spPr>
          <a:xfrm>
            <a:off x="8877271" y="4925728"/>
            <a:ext cx="9225334" cy="1506580"/>
          </a:xfrm>
          <a:prstGeom prst="rect">
            <a:avLst/>
          </a:prstGeom>
        </p:spPr>
        <p:txBody>
          <a:bodyPr lIns="0" tIns="0" rIns="0" bIns="0" rtlCol="0" anchor="t">
            <a:spAutoFit/>
          </a:bodyPr>
          <a:lstStyle/>
          <a:p>
            <a:pPr marL="471916" lvl="1" indent="-235958" algn="l">
              <a:lnSpc>
                <a:spcPts val="3060"/>
              </a:lnSpc>
              <a:buFont typeface="Arial"/>
              <a:buChar char="•"/>
            </a:pPr>
            <a:r>
              <a:rPr lang="en-US" sz="2185">
                <a:solidFill>
                  <a:srgbClr val="000000"/>
                </a:solidFill>
                <a:latin typeface="Inter 1"/>
                <a:ea typeface="Inter 1"/>
                <a:cs typeface="Inter 1"/>
                <a:sym typeface="Inter 1"/>
              </a:rPr>
              <a:t>Trends Income and Longevity</a:t>
            </a:r>
          </a:p>
          <a:p>
            <a:pPr marL="471916" lvl="1" indent="-235958" algn="l">
              <a:lnSpc>
                <a:spcPts val="3060"/>
              </a:lnSpc>
              <a:buFont typeface="Arial"/>
              <a:buChar char="•"/>
            </a:pPr>
            <a:r>
              <a:rPr lang="en-US" sz="2185">
                <a:solidFill>
                  <a:srgbClr val="000000"/>
                </a:solidFill>
                <a:latin typeface="Inter 1"/>
                <a:ea typeface="Inter 1"/>
                <a:cs typeface="Inter 1"/>
                <a:sym typeface="Inter 1"/>
              </a:rPr>
              <a:t>Cross-Sectional Relationship Between GDP and Life Expectancy</a:t>
            </a:r>
          </a:p>
          <a:p>
            <a:pPr marL="471916" lvl="1" indent="-235958" algn="l">
              <a:lnSpc>
                <a:spcPts val="3060"/>
              </a:lnSpc>
              <a:buFont typeface="Arial"/>
              <a:buChar char="•"/>
            </a:pPr>
            <a:r>
              <a:rPr lang="en-US" sz="2185">
                <a:solidFill>
                  <a:srgbClr val="000000"/>
                </a:solidFill>
                <a:latin typeface="Inter 1"/>
                <a:ea typeface="Inter 1"/>
                <a:cs typeface="Inter 1"/>
                <a:sym typeface="Inter 1"/>
              </a:rPr>
              <a:t>Life Expectancy Differences Across Income Groups</a:t>
            </a:r>
          </a:p>
          <a:p>
            <a:pPr marL="471916" lvl="1" indent="-235958" algn="l">
              <a:lnSpc>
                <a:spcPts val="3060"/>
              </a:lnSpc>
              <a:buFont typeface="Arial"/>
              <a:buChar char="•"/>
            </a:pPr>
            <a:r>
              <a:rPr lang="en-US" sz="2185">
                <a:solidFill>
                  <a:srgbClr val="000000"/>
                </a:solidFill>
                <a:latin typeface="Inter 1"/>
                <a:ea typeface="Inter 1"/>
                <a:cs typeface="Inter 1"/>
                <a:sym typeface="Inter 1"/>
              </a:rPr>
              <a:t>Regression and Outliers in GDP – Life Expectancy</a:t>
            </a:r>
          </a:p>
        </p:txBody>
      </p:sp>
      <p:sp>
        <p:nvSpPr>
          <p:cNvPr id="12" name="TextBox 12"/>
          <p:cNvSpPr txBox="1"/>
          <p:nvPr/>
        </p:nvSpPr>
        <p:spPr>
          <a:xfrm>
            <a:off x="8877271" y="6545196"/>
            <a:ext cx="4444027" cy="746211"/>
          </a:xfrm>
          <a:prstGeom prst="rect">
            <a:avLst/>
          </a:prstGeom>
        </p:spPr>
        <p:txBody>
          <a:bodyPr lIns="0" tIns="0" rIns="0" bIns="0" rtlCol="0" anchor="t">
            <a:spAutoFit/>
          </a:bodyPr>
          <a:lstStyle/>
          <a:p>
            <a:pPr algn="l">
              <a:lnSpc>
                <a:spcPts val="6120"/>
              </a:lnSpc>
            </a:pPr>
            <a:r>
              <a:rPr lang="en-US" sz="4371" b="1">
                <a:solidFill>
                  <a:srgbClr val="000000"/>
                </a:solidFill>
                <a:latin typeface="Inter 1 Bold"/>
                <a:ea typeface="Inter 1 Bold"/>
                <a:cs typeface="Inter 1 Bold"/>
                <a:sym typeface="Inter 1 Bold"/>
              </a:rPr>
              <a:t>CONCLUSION</a:t>
            </a:r>
          </a:p>
        </p:txBody>
      </p:sp>
      <p:sp>
        <p:nvSpPr>
          <p:cNvPr id="13" name="TextBox 13"/>
          <p:cNvSpPr txBox="1"/>
          <p:nvPr/>
        </p:nvSpPr>
        <p:spPr>
          <a:xfrm>
            <a:off x="8877271" y="7365466"/>
            <a:ext cx="9225334" cy="1506580"/>
          </a:xfrm>
          <a:prstGeom prst="rect">
            <a:avLst/>
          </a:prstGeom>
        </p:spPr>
        <p:txBody>
          <a:bodyPr lIns="0" tIns="0" rIns="0" bIns="0" rtlCol="0" anchor="t">
            <a:spAutoFit/>
          </a:bodyPr>
          <a:lstStyle/>
          <a:p>
            <a:pPr marL="471916" lvl="1" indent="-235958" algn="l">
              <a:lnSpc>
                <a:spcPts val="3060"/>
              </a:lnSpc>
              <a:buFont typeface="Arial"/>
              <a:buChar char="•"/>
            </a:pPr>
            <a:r>
              <a:rPr lang="en-US" sz="2185">
                <a:solidFill>
                  <a:srgbClr val="000000"/>
                </a:solidFill>
                <a:latin typeface="Inter 1"/>
                <a:ea typeface="Inter 1"/>
                <a:cs typeface="Inter 1"/>
                <a:sym typeface="Inter 1"/>
              </a:rPr>
              <a:t>Summary of findings.</a:t>
            </a:r>
          </a:p>
          <a:p>
            <a:pPr marL="471916" lvl="1" indent="-235958" algn="l">
              <a:lnSpc>
                <a:spcPts val="3060"/>
              </a:lnSpc>
              <a:buFont typeface="Arial"/>
              <a:buChar char="•"/>
            </a:pPr>
            <a:r>
              <a:rPr lang="en-US" sz="2185">
                <a:solidFill>
                  <a:srgbClr val="000000"/>
                </a:solidFill>
                <a:latin typeface="Inter 1"/>
                <a:ea typeface="Inter 1"/>
                <a:cs typeface="Inter 1"/>
                <a:sym typeface="Inter 1"/>
              </a:rPr>
              <a:t>Implications for Global Development</a:t>
            </a:r>
          </a:p>
          <a:p>
            <a:pPr marL="471916" lvl="1" indent="-235958" algn="l">
              <a:lnSpc>
                <a:spcPts val="3060"/>
              </a:lnSpc>
              <a:buFont typeface="Arial"/>
              <a:buChar char="•"/>
            </a:pPr>
            <a:r>
              <a:rPr lang="en-US" sz="2185">
                <a:solidFill>
                  <a:srgbClr val="000000"/>
                </a:solidFill>
                <a:latin typeface="Inter 1"/>
                <a:ea typeface="Inter 1"/>
                <a:cs typeface="Inter 1"/>
                <a:sym typeface="Inter 1"/>
              </a:rPr>
              <a:t>Limitations of the Analysis</a:t>
            </a:r>
          </a:p>
          <a:p>
            <a:pPr marL="471916" lvl="1" indent="-235958" algn="l">
              <a:lnSpc>
                <a:spcPts val="3060"/>
              </a:lnSpc>
              <a:buFont typeface="Arial"/>
              <a:buChar char="•"/>
            </a:pPr>
            <a:r>
              <a:rPr lang="en-US" sz="2185">
                <a:solidFill>
                  <a:srgbClr val="000000"/>
                </a:solidFill>
                <a:latin typeface="Inter 1"/>
                <a:ea typeface="Inter 1"/>
                <a:cs typeface="Inter 1"/>
                <a:sym typeface="Inter 1"/>
              </a:rPr>
              <a:t>Recommendations</a:t>
            </a:r>
          </a:p>
        </p:txBody>
      </p:sp>
      <p:sp>
        <p:nvSpPr>
          <p:cNvPr id="14" name="TextBox 14"/>
          <p:cNvSpPr txBox="1"/>
          <p:nvPr/>
        </p:nvSpPr>
        <p:spPr>
          <a:xfrm>
            <a:off x="1684120" y="815572"/>
            <a:ext cx="4648252" cy="953135"/>
          </a:xfrm>
          <a:prstGeom prst="rect">
            <a:avLst/>
          </a:prstGeom>
        </p:spPr>
        <p:txBody>
          <a:bodyPr lIns="0" tIns="0" rIns="0" bIns="0" rtlCol="0" anchor="t">
            <a:spAutoFit/>
          </a:bodyPr>
          <a:lstStyle/>
          <a:p>
            <a:pPr algn="l">
              <a:lnSpc>
                <a:spcPts val="7840"/>
              </a:lnSpc>
            </a:pPr>
            <a:r>
              <a:rPr lang="en-US" sz="5600" b="1" dirty="0">
                <a:solidFill>
                  <a:srgbClr val="000000"/>
                </a:solidFill>
                <a:latin typeface="Inter 1 Bold"/>
                <a:ea typeface="Inter 1 Bold"/>
                <a:cs typeface="Inter 1 Bold"/>
                <a:sym typeface="Inter 1 Bold"/>
              </a:rPr>
              <a:t>CONTENT</a:t>
            </a:r>
          </a:p>
        </p:txBody>
      </p:sp>
      <p:grpSp>
        <p:nvGrpSpPr>
          <p:cNvPr id="15" name="Group 15"/>
          <p:cNvGrpSpPr/>
          <p:nvPr/>
        </p:nvGrpSpPr>
        <p:grpSpPr>
          <a:xfrm>
            <a:off x="1684120" y="1682709"/>
            <a:ext cx="3086100" cy="85998"/>
            <a:chOff x="0" y="0"/>
            <a:chExt cx="812800" cy="22650"/>
          </a:xfrm>
        </p:grpSpPr>
        <p:sp>
          <p:nvSpPr>
            <p:cNvPr id="16" name="Freeform 16"/>
            <p:cNvSpPr/>
            <p:nvPr/>
          </p:nvSpPr>
          <p:spPr>
            <a:xfrm>
              <a:off x="0" y="0"/>
              <a:ext cx="812800" cy="22650"/>
            </a:xfrm>
            <a:custGeom>
              <a:avLst/>
              <a:gdLst/>
              <a:ahLst/>
              <a:cxnLst/>
              <a:rect l="l" t="t" r="r" b="b"/>
              <a:pathLst>
                <a:path w="812800" h="22650">
                  <a:moveTo>
                    <a:pt x="0" y="0"/>
                  </a:moveTo>
                  <a:lnTo>
                    <a:pt x="812800" y="0"/>
                  </a:lnTo>
                  <a:lnTo>
                    <a:pt x="812800" y="22650"/>
                  </a:lnTo>
                  <a:lnTo>
                    <a:pt x="0" y="22650"/>
                  </a:lnTo>
                  <a:close/>
                </a:path>
              </a:pathLst>
            </a:custGeom>
            <a:solidFill>
              <a:srgbClr val="ACA18F"/>
            </a:solidFill>
          </p:spPr>
          <p:txBody>
            <a:bodyPr/>
            <a:lstStyle/>
            <a:p>
              <a:endParaRPr lang="en-SG"/>
            </a:p>
          </p:txBody>
        </p:sp>
        <p:sp>
          <p:nvSpPr>
            <p:cNvPr id="17" name="TextBox 17"/>
            <p:cNvSpPr txBox="1"/>
            <p:nvPr/>
          </p:nvSpPr>
          <p:spPr>
            <a:xfrm>
              <a:off x="0" y="-38100"/>
              <a:ext cx="812800" cy="60750"/>
            </a:xfrm>
            <a:prstGeom prst="rect">
              <a:avLst/>
            </a:prstGeom>
          </p:spPr>
          <p:txBody>
            <a:bodyPr lIns="50800" tIns="50800" rIns="50800" bIns="50800" rtlCol="0" anchor="ctr"/>
            <a:lstStyle/>
            <a:p>
              <a:pPr algn="ctr">
                <a:lnSpc>
                  <a:spcPts val="2277"/>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952816"/>
            <a:ext cx="243225" cy="261738"/>
            <a:chOff x="0" y="0"/>
            <a:chExt cx="64059" cy="68935"/>
          </a:xfrm>
        </p:grpSpPr>
        <p:sp>
          <p:nvSpPr>
            <p:cNvPr id="3" name="Freeform 3"/>
            <p:cNvSpPr/>
            <p:nvPr/>
          </p:nvSpPr>
          <p:spPr>
            <a:xfrm>
              <a:off x="0" y="0"/>
              <a:ext cx="64059" cy="68935"/>
            </a:xfrm>
            <a:custGeom>
              <a:avLst/>
              <a:gdLst/>
              <a:ahLst/>
              <a:cxnLst/>
              <a:rect l="l" t="t" r="r" b="b"/>
              <a:pathLst>
                <a:path w="64059" h="68935">
                  <a:moveTo>
                    <a:pt x="0" y="0"/>
                  </a:moveTo>
                  <a:lnTo>
                    <a:pt x="64059" y="0"/>
                  </a:lnTo>
                  <a:lnTo>
                    <a:pt x="64059" y="68935"/>
                  </a:lnTo>
                  <a:lnTo>
                    <a:pt x="0" y="68935"/>
                  </a:lnTo>
                  <a:close/>
                </a:path>
              </a:pathLst>
            </a:custGeom>
            <a:solidFill>
              <a:srgbClr val="000000"/>
            </a:solidFill>
          </p:spPr>
          <p:txBody>
            <a:bodyPr/>
            <a:lstStyle/>
            <a:p>
              <a:endParaRPr lang="en-SG"/>
            </a:p>
          </p:txBody>
        </p:sp>
        <p:sp>
          <p:nvSpPr>
            <p:cNvPr id="4" name="TextBox 4"/>
            <p:cNvSpPr txBox="1"/>
            <p:nvPr/>
          </p:nvSpPr>
          <p:spPr>
            <a:xfrm>
              <a:off x="0" y="-38100"/>
              <a:ext cx="64059" cy="107035"/>
            </a:xfrm>
            <a:prstGeom prst="rect">
              <a:avLst/>
            </a:prstGeom>
          </p:spPr>
          <p:txBody>
            <a:bodyPr lIns="50800" tIns="50800" rIns="50800" bIns="50800" rtlCol="0" anchor="ctr"/>
            <a:lstStyle/>
            <a:p>
              <a:pPr algn="ctr">
                <a:lnSpc>
                  <a:spcPts val="2277"/>
                </a:lnSpc>
              </a:pPr>
              <a:endParaRPr/>
            </a:p>
          </p:txBody>
        </p:sp>
      </p:grpSp>
      <p:grpSp>
        <p:nvGrpSpPr>
          <p:cNvPr id="5" name="Group 5"/>
          <p:cNvGrpSpPr/>
          <p:nvPr/>
        </p:nvGrpSpPr>
        <p:grpSpPr>
          <a:xfrm>
            <a:off x="1028700" y="6319778"/>
            <a:ext cx="243225" cy="261738"/>
            <a:chOff x="0" y="0"/>
            <a:chExt cx="64059" cy="68935"/>
          </a:xfrm>
        </p:grpSpPr>
        <p:sp>
          <p:nvSpPr>
            <p:cNvPr id="6" name="Freeform 6"/>
            <p:cNvSpPr/>
            <p:nvPr/>
          </p:nvSpPr>
          <p:spPr>
            <a:xfrm>
              <a:off x="0" y="0"/>
              <a:ext cx="64059" cy="68935"/>
            </a:xfrm>
            <a:custGeom>
              <a:avLst/>
              <a:gdLst/>
              <a:ahLst/>
              <a:cxnLst/>
              <a:rect l="l" t="t" r="r" b="b"/>
              <a:pathLst>
                <a:path w="64059" h="68935">
                  <a:moveTo>
                    <a:pt x="0" y="0"/>
                  </a:moveTo>
                  <a:lnTo>
                    <a:pt x="64059" y="0"/>
                  </a:lnTo>
                  <a:lnTo>
                    <a:pt x="64059" y="68935"/>
                  </a:lnTo>
                  <a:lnTo>
                    <a:pt x="0" y="68935"/>
                  </a:lnTo>
                  <a:close/>
                </a:path>
              </a:pathLst>
            </a:custGeom>
            <a:solidFill>
              <a:srgbClr val="000000"/>
            </a:solidFill>
          </p:spPr>
          <p:txBody>
            <a:bodyPr/>
            <a:lstStyle/>
            <a:p>
              <a:endParaRPr lang="en-SG"/>
            </a:p>
          </p:txBody>
        </p:sp>
        <p:sp>
          <p:nvSpPr>
            <p:cNvPr id="7" name="TextBox 7"/>
            <p:cNvSpPr txBox="1"/>
            <p:nvPr/>
          </p:nvSpPr>
          <p:spPr>
            <a:xfrm>
              <a:off x="0" y="-38100"/>
              <a:ext cx="64059" cy="107035"/>
            </a:xfrm>
            <a:prstGeom prst="rect">
              <a:avLst/>
            </a:prstGeom>
          </p:spPr>
          <p:txBody>
            <a:bodyPr lIns="50800" tIns="50800" rIns="50800" bIns="50800" rtlCol="0" anchor="ctr"/>
            <a:lstStyle/>
            <a:p>
              <a:pPr algn="ctr">
                <a:lnSpc>
                  <a:spcPts val="2277"/>
                </a:lnSpc>
              </a:pPr>
              <a:endParaRPr/>
            </a:p>
          </p:txBody>
        </p:sp>
      </p:grpSp>
      <p:sp>
        <p:nvSpPr>
          <p:cNvPr id="8" name="Freeform 8"/>
          <p:cNvSpPr/>
          <p:nvPr/>
        </p:nvSpPr>
        <p:spPr>
          <a:xfrm>
            <a:off x="13007034" y="-1245025"/>
            <a:ext cx="7315200" cy="4003409"/>
          </a:xfrm>
          <a:custGeom>
            <a:avLst/>
            <a:gdLst/>
            <a:ahLst/>
            <a:cxnLst/>
            <a:rect l="l" t="t" r="r" b="b"/>
            <a:pathLst>
              <a:path w="7315200" h="4003409">
                <a:moveTo>
                  <a:pt x="0" y="0"/>
                </a:moveTo>
                <a:lnTo>
                  <a:pt x="7315200" y="0"/>
                </a:lnTo>
                <a:lnTo>
                  <a:pt x="7315200" y="4003410"/>
                </a:lnTo>
                <a:lnTo>
                  <a:pt x="0" y="40034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9" name="TextBox 9"/>
          <p:cNvSpPr txBox="1"/>
          <p:nvPr/>
        </p:nvSpPr>
        <p:spPr>
          <a:xfrm>
            <a:off x="1028700" y="923925"/>
            <a:ext cx="6578040" cy="1943735"/>
          </a:xfrm>
          <a:prstGeom prst="rect">
            <a:avLst/>
          </a:prstGeom>
        </p:spPr>
        <p:txBody>
          <a:bodyPr lIns="0" tIns="0" rIns="0" bIns="0" rtlCol="0" anchor="t">
            <a:spAutoFit/>
          </a:bodyPr>
          <a:lstStyle/>
          <a:p>
            <a:pPr algn="l">
              <a:lnSpc>
                <a:spcPts val="7840"/>
              </a:lnSpc>
            </a:pPr>
            <a:r>
              <a:rPr lang="en-US" sz="5600">
                <a:solidFill>
                  <a:srgbClr val="000000"/>
                </a:solidFill>
                <a:latin typeface="Inter 1"/>
                <a:ea typeface="Inter 1"/>
                <a:cs typeface="Inter 1"/>
                <a:sym typeface="Inter 1"/>
              </a:rPr>
              <a:t>BACKGROUND &amp; MOTIVATION</a:t>
            </a:r>
          </a:p>
        </p:txBody>
      </p:sp>
      <p:sp>
        <p:nvSpPr>
          <p:cNvPr id="10" name="TextBox 10"/>
          <p:cNvSpPr txBox="1"/>
          <p:nvPr/>
        </p:nvSpPr>
        <p:spPr>
          <a:xfrm>
            <a:off x="1556797" y="4576127"/>
            <a:ext cx="14463081" cy="1099185"/>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000000"/>
                </a:solidFill>
                <a:latin typeface="Inter 1"/>
                <a:ea typeface="Inter 1"/>
                <a:cs typeface="Inter 1"/>
                <a:sym typeface="Inter 1"/>
              </a:rPr>
              <a:t>Over the past two centuries, both economic development and population health have increased.</a:t>
            </a:r>
          </a:p>
          <a:p>
            <a:pPr marL="453390" lvl="1" indent="-226695" algn="l">
              <a:lnSpc>
                <a:spcPts val="2940"/>
              </a:lnSpc>
              <a:buFont typeface="Arial"/>
              <a:buChar char="•"/>
            </a:pPr>
            <a:r>
              <a:rPr lang="en-US" sz="2100">
                <a:solidFill>
                  <a:srgbClr val="000000"/>
                </a:solidFill>
                <a:latin typeface="Inter 1"/>
                <a:ea typeface="Inter 1"/>
                <a:cs typeface="Inter 1"/>
                <a:sym typeface="Inter 1"/>
              </a:rPr>
              <a:t>Higher economic development generally improves quality of life and supports longer life expectancy.</a:t>
            </a:r>
          </a:p>
          <a:p>
            <a:pPr algn="l">
              <a:lnSpc>
                <a:spcPts val="2940"/>
              </a:lnSpc>
            </a:pPr>
            <a:endParaRPr lang="en-US" sz="2100">
              <a:solidFill>
                <a:srgbClr val="000000"/>
              </a:solidFill>
              <a:latin typeface="Inter 1"/>
              <a:ea typeface="Inter 1"/>
              <a:cs typeface="Inter 1"/>
              <a:sym typeface="Inter 1"/>
            </a:endParaRPr>
          </a:p>
        </p:txBody>
      </p:sp>
      <p:sp>
        <p:nvSpPr>
          <p:cNvPr id="11" name="TextBox 11"/>
          <p:cNvSpPr txBox="1"/>
          <p:nvPr/>
        </p:nvSpPr>
        <p:spPr>
          <a:xfrm>
            <a:off x="1028700" y="8902065"/>
            <a:ext cx="3311757" cy="356235"/>
          </a:xfrm>
          <a:prstGeom prst="rect">
            <a:avLst/>
          </a:prstGeom>
        </p:spPr>
        <p:txBody>
          <a:bodyPr lIns="0" tIns="0" rIns="0" bIns="0" rtlCol="0" anchor="t">
            <a:spAutoFit/>
          </a:bodyPr>
          <a:lstStyle/>
          <a:p>
            <a:pPr algn="l">
              <a:lnSpc>
                <a:spcPts val="2940"/>
              </a:lnSpc>
            </a:pPr>
            <a:r>
              <a:rPr lang="en-US" sz="2100" i="1">
                <a:solidFill>
                  <a:srgbClr val="000000"/>
                </a:solidFill>
                <a:latin typeface="Inter 1 Italics"/>
                <a:ea typeface="Inter 1 Italics"/>
                <a:cs typeface="Inter 1 Italics"/>
                <a:sym typeface="Inter 1 Italics"/>
              </a:rPr>
              <a:t>Introduction</a:t>
            </a:r>
          </a:p>
        </p:txBody>
      </p:sp>
      <p:sp>
        <p:nvSpPr>
          <p:cNvPr id="12" name="TextBox 12"/>
          <p:cNvSpPr txBox="1"/>
          <p:nvPr/>
        </p:nvSpPr>
        <p:spPr>
          <a:xfrm>
            <a:off x="1472813" y="3689350"/>
            <a:ext cx="15342374" cy="712470"/>
          </a:xfrm>
          <a:prstGeom prst="rect">
            <a:avLst/>
          </a:prstGeom>
        </p:spPr>
        <p:txBody>
          <a:bodyPr lIns="0" tIns="0" rIns="0" bIns="0" rtlCol="0" anchor="t">
            <a:spAutoFit/>
          </a:bodyPr>
          <a:lstStyle/>
          <a:p>
            <a:pPr algn="l">
              <a:lnSpc>
                <a:spcPts val="5880"/>
              </a:lnSpc>
            </a:pPr>
            <a:r>
              <a:rPr lang="en-US" sz="4200">
                <a:solidFill>
                  <a:srgbClr val="000000"/>
                </a:solidFill>
                <a:latin typeface="Inter 1"/>
                <a:ea typeface="Inter 1"/>
                <a:cs typeface="Inter 1"/>
                <a:sym typeface="Inter 1"/>
              </a:rPr>
              <a:t>BROAD RISE IN ECONOMIC DEVELOPMENT AND HEALTH</a:t>
            </a:r>
          </a:p>
        </p:txBody>
      </p:sp>
      <p:sp>
        <p:nvSpPr>
          <p:cNvPr id="13" name="TextBox 13"/>
          <p:cNvSpPr txBox="1"/>
          <p:nvPr/>
        </p:nvSpPr>
        <p:spPr>
          <a:xfrm>
            <a:off x="1556797" y="6943090"/>
            <a:ext cx="15107837" cy="1470660"/>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000000"/>
                </a:solidFill>
                <a:latin typeface="Inter 1"/>
                <a:ea typeface="Inter 1"/>
                <a:cs typeface="Inter 1"/>
                <a:sym typeface="Inter 1"/>
              </a:rPr>
              <a:t>Significant differences persist: some high-income countries show only modest health outcomes, while some middle-income countries achieve unexpectedly high longevity.</a:t>
            </a:r>
          </a:p>
          <a:p>
            <a:pPr marL="453390" lvl="1" indent="-226695" algn="l">
              <a:lnSpc>
                <a:spcPts val="2940"/>
              </a:lnSpc>
              <a:buFont typeface="Arial"/>
              <a:buChar char="•"/>
            </a:pPr>
            <a:r>
              <a:rPr lang="en-US" sz="2100">
                <a:solidFill>
                  <a:srgbClr val="000000"/>
                </a:solidFill>
                <a:latin typeface="Inter 1"/>
                <a:ea typeface="Inter 1"/>
                <a:cs typeface="Inter 1"/>
                <a:sym typeface="Inter 1"/>
              </a:rPr>
              <a:t>This motivates examining how closely economic prosperity and life expectancy actually move together.</a:t>
            </a:r>
          </a:p>
          <a:p>
            <a:pPr algn="l">
              <a:lnSpc>
                <a:spcPts val="2940"/>
              </a:lnSpc>
            </a:pPr>
            <a:endParaRPr lang="en-US" sz="2100">
              <a:solidFill>
                <a:srgbClr val="000000"/>
              </a:solidFill>
              <a:latin typeface="Inter 1"/>
              <a:ea typeface="Inter 1"/>
              <a:cs typeface="Inter 1"/>
              <a:sym typeface="Inter 1"/>
            </a:endParaRPr>
          </a:p>
        </p:txBody>
      </p:sp>
      <p:sp>
        <p:nvSpPr>
          <p:cNvPr id="14" name="TextBox 14"/>
          <p:cNvSpPr txBox="1"/>
          <p:nvPr/>
        </p:nvSpPr>
        <p:spPr>
          <a:xfrm>
            <a:off x="1556797" y="6056312"/>
            <a:ext cx="14777815" cy="712470"/>
          </a:xfrm>
          <a:prstGeom prst="rect">
            <a:avLst/>
          </a:prstGeom>
        </p:spPr>
        <p:txBody>
          <a:bodyPr lIns="0" tIns="0" rIns="0" bIns="0" rtlCol="0" anchor="t">
            <a:spAutoFit/>
          </a:bodyPr>
          <a:lstStyle/>
          <a:p>
            <a:pPr algn="l">
              <a:lnSpc>
                <a:spcPts val="5880"/>
              </a:lnSpc>
            </a:pPr>
            <a:r>
              <a:rPr lang="en-US" sz="4200">
                <a:solidFill>
                  <a:srgbClr val="000000"/>
                </a:solidFill>
                <a:latin typeface="Inter 1"/>
                <a:ea typeface="Inter 1"/>
                <a:cs typeface="Inter 1"/>
                <a:sym typeface="Inter 1"/>
              </a:rPr>
              <a:t>VARIATION DESPITE OVERALL GROWTH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516253"/>
            <a:ext cx="243225" cy="261738"/>
            <a:chOff x="0" y="0"/>
            <a:chExt cx="64059" cy="68935"/>
          </a:xfrm>
        </p:grpSpPr>
        <p:sp>
          <p:nvSpPr>
            <p:cNvPr id="3" name="Freeform 3"/>
            <p:cNvSpPr/>
            <p:nvPr/>
          </p:nvSpPr>
          <p:spPr>
            <a:xfrm>
              <a:off x="0" y="0"/>
              <a:ext cx="64059" cy="68935"/>
            </a:xfrm>
            <a:custGeom>
              <a:avLst/>
              <a:gdLst/>
              <a:ahLst/>
              <a:cxnLst/>
              <a:rect l="l" t="t" r="r" b="b"/>
              <a:pathLst>
                <a:path w="64059" h="68935">
                  <a:moveTo>
                    <a:pt x="0" y="0"/>
                  </a:moveTo>
                  <a:lnTo>
                    <a:pt x="64059" y="0"/>
                  </a:lnTo>
                  <a:lnTo>
                    <a:pt x="64059" y="68935"/>
                  </a:lnTo>
                  <a:lnTo>
                    <a:pt x="0" y="68935"/>
                  </a:lnTo>
                  <a:close/>
                </a:path>
              </a:pathLst>
            </a:custGeom>
            <a:solidFill>
              <a:srgbClr val="000000"/>
            </a:solidFill>
          </p:spPr>
          <p:txBody>
            <a:bodyPr/>
            <a:lstStyle/>
            <a:p>
              <a:endParaRPr lang="en-SG"/>
            </a:p>
          </p:txBody>
        </p:sp>
        <p:sp>
          <p:nvSpPr>
            <p:cNvPr id="4" name="TextBox 4"/>
            <p:cNvSpPr txBox="1"/>
            <p:nvPr/>
          </p:nvSpPr>
          <p:spPr>
            <a:xfrm>
              <a:off x="0" y="-38100"/>
              <a:ext cx="64059" cy="107035"/>
            </a:xfrm>
            <a:prstGeom prst="rect">
              <a:avLst/>
            </a:prstGeom>
          </p:spPr>
          <p:txBody>
            <a:bodyPr lIns="50800" tIns="50800" rIns="50800" bIns="50800" rtlCol="0" anchor="ctr"/>
            <a:lstStyle/>
            <a:p>
              <a:pPr algn="ctr">
                <a:lnSpc>
                  <a:spcPts val="2277"/>
                </a:lnSpc>
              </a:pPr>
              <a:endParaRPr/>
            </a:p>
          </p:txBody>
        </p:sp>
      </p:grpSp>
      <p:grpSp>
        <p:nvGrpSpPr>
          <p:cNvPr id="5" name="Group 5"/>
          <p:cNvGrpSpPr/>
          <p:nvPr/>
        </p:nvGrpSpPr>
        <p:grpSpPr>
          <a:xfrm>
            <a:off x="1028700" y="5016123"/>
            <a:ext cx="243225" cy="261738"/>
            <a:chOff x="0" y="0"/>
            <a:chExt cx="64059" cy="68935"/>
          </a:xfrm>
        </p:grpSpPr>
        <p:sp>
          <p:nvSpPr>
            <p:cNvPr id="6" name="Freeform 6"/>
            <p:cNvSpPr/>
            <p:nvPr/>
          </p:nvSpPr>
          <p:spPr>
            <a:xfrm>
              <a:off x="0" y="0"/>
              <a:ext cx="64059" cy="68935"/>
            </a:xfrm>
            <a:custGeom>
              <a:avLst/>
              <a:gdLst/>
              <a:ahLst/>
              <a:cxnLst/>
              <a:rect l="l" t="t" r="r" b="b"/>
              <a:pathLst>
                <a:path w="64059" h="68935">
                  <a:moveTo>
                    <a:pt x="0" y="0"/>
                  </a:moveTo>
                  <a:lnTo>
                    <a:pt x="64059" y="0"/>
                  </a:lnTo>
                  <a:lnTo>
                    <a:pt x="64059" y="68935"/>
                  </a:lnTo>
                  <a:lnTo>
                    <a:pt x="0" y="68935"/>
                  </a:lnTo>
                  <a:close/>
                </a:path>
              </a:pathLst>
            </a:custGeom>
            <a:solidFill>
              <a:srgbClr val="000000"/>
            </a:solidFill>
          </p:spPr>
          <p:txBody>
            <a:bodyPr/>
            <a:lstStyle/>
            <a:p>
              <a:endParaRPr lang="en-SG"/>
            </a:p>
          </p:txBody>
        </p:sp>
        <p:sp>
          <p:nvSpPr>
            <p:cNvPr id="7" name="TextBox 7"/>
            <p:cNvSpPr txBox="1"/>
            <p:nvPr/>
          </p:nvSpPr>
          <p:spPr>
            <a:xfrm>
              <a:off x="0" y="-38100"/>
              <a:ext cx="64059" cy="107035"/>
            </a:xfrm>
            <a:prstGeom prst="rect">
              <a:avLst/>
            </a:prstGeom>
          </p:spPr>
          <p:txBody>
            <a:bodyPr lIns="50800" tIns="50800" rIns="50800" bIns="50800" rtlCol="0" anchor="ctr"/>
            <a:lstStyle/>
            <a:p>
              <a:pPr algn="ctr">
                <a:lnSpc>
                  <a:spcPts val="2277"/>
                </a:lnSpc>
              </a:pPr>
              <a:endParaRPr/>
            </a:p>
          </p:txBody>
        </p:sp>
      </p:grpSp>
      <p:sp>
        <p:nvSpPr>
          <p:cNvPr id="8" name="Freeform 8"/>
          <p:cNvSpPr/>
          <p:nvPr/>
        </p:nvSpPr>
        <p:spPr>
          <a:xfrm>
            <a:off x="13007034" y="-1245025"/>
            <a:ext cx="7315200" cy="4003409"/>
          </a:xfrm>
          <a:custGeom>
            <a:avLst/>
            <a:gdLst/>
            <a:ahLst/>
            <a:cxnLst/>
            <a:rect l="l" t="t" r="r" b="b"/>
            <a:pathLst>
              <a:path w="7315200" h="4003409">
                <a:moveTo>
                  <a:pt x="0" y="0"/>
                </a:moveTo>
                <a:lnTo>
                  <a:pt x="7315200" y="0"/>
                </a:lnTo>
                <a:lnTo>
                  <a:pt x="7315200" y="4003410"/>
                </a:lnTo>
                <a:lnTo>
                  <a:pt x="0" y="40034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9" name="TextBox 9"/>
          <p:cNvSpPr txBox="1"/>
          <p:nvPr/>
        </p:nvSpPr>
        <p:spPr>
          <a:xfrm>
            <a:off x="1028700" y="923925"/>
            <a:ext cx="11978334" cy="1943735"/>
          </a:xfrm>
          <a:prstGeom prst="rect">
            <a:avLst/>
          </a:prstGeom>
        </p:spPr>
        <p:txBody>
          <a:bodyPr lIns="0" tIns="0" rIns="0" bIns="0" rtlCol="0" anchor="t">
            <a:spAutoFit/>
          </a:bodyPr>
          <a:lstStyle/>
          <a:p>
            <a:pPr algn="l">
              <a:lnSpc>
                <a:spcPts val="7840"/>
              </a:lnSpc>
            </a:pPr>
            <a:r>
              <a:rPr lang="en-US" sz="5600">
                <a:solidFill>
                  <a:srgbClr val="000000"/>
                </a:solidFill>
                <a:latin typeface="Inter 1"/>
                <a:ea typeface="Inter 1"/>
                <a:cs typeface="Inter 1"/>
                <a:sym typeface="Inter 1"/>
              </a:rPr>
              <a:t>RESEARCH QUESTION &amp; OBJECTIVES</a:t>
            </a:r>
          </a:p>
        </p:txBody>
      </p:sp>
      <p:sp>
        <p:nvSpPr>
          <p:cNvPr id="10" name="TextBox 10"/>
          <p:cNvSpPr txBox="1"/>
          <p:nvPr/>
        </p:nvSpPr>
        <p:spPr>
          <a:xfrm>
            <a:off x="1028700" y="8902065"/>
            <a:ext cx="3311757" cy="356235"/>
          </a:xfrm>
          <a:prstGeom prst="rect">
            <a:avLst/>
          </a:prstGeom>
        </p:spPr>
        <p:txBody>
          <a:bodyPr lIns="0" tIns="0" rIns="0" bIns="0" rtlCol="0" anchor="t">
            <a:spAutoFit/>
          </a:bodyPr>
          <a:lstStyle/>
          <a:p>
            <a:pPr algn="l">
              <a:lnSpc>
                <a:spcPts val="2940"/>
              </a:lnSpc>
            </a:pPr>
            <a:r>
              <a:rPr lang="en-US" sz="2100" i="1">
                <a:solidFill>
                  <a:srgbClr val="000000"/>
                </a:solidFill>
                <a:latin typeface="Inter 1 Italics"/>
                <a:ea typeface="Inter 1 Italics"/>
                <a:cs typeface="Inter 1 Italics"/>
                <a:sym typeface="Inter 1 Italics"/>
              </a:rPr>
              <a:t>Introduction</a:t>
            </a:r>
          </a:p>
        </p:txBody>
      </p:sp>
      <p:sp>
        <p:nvSpPr>
          <p:cNvPr id="11" name="TextBox 11"/>
          <p:cNvSpPr txBox="1"/>
          <p:nvPr/>
        </p:nvSpPr>
        <p:spPr>
          <a:xfrm>
            <a:off x="1556797" y="3349625"/>
            <a:ext cx="14714207" cy="537844"/>
          </a:xfrm>
          <a:prstGeom prst="rect">
            <a:avLst/>
          </a:prstGeom>
        </p:spPr>
        <p:txBody>
          <a:bodyPr lIns="0" tIns="0" rIns="0" bIns="0" rtlCol="0" anchor="t">
            <a:spAutoFit/>
          </a:bodyPr>
          <a:lstStyle/>
          <a:p>
            <a:pPr algn="l">
              <a:lnSpc>
                <a:spcPts val="4480"/>
              </a:lnSpc>
            </a:pPr>
            <a:r>
              <a:rPr lang="en-US" sz="3200">
                <a:solidFill>
                  <a:srgbClr val="000000"/>
                </a:solidFill>
                <a:latin typeface="Inter 1"/>
                <a:ea typeface="Inter 1"/>
                <a:cs typeface="Inter 1"/>
                <a:sym typeface="Inter 1"/>
              </a:rPr>
              <a:t>Describe long-run global trends in both GDP per capita and life expectancy.</a:t>
            </a:r>
          </a:p>
        </p:txBody>
      </p:sp>
      <p:sp>
        <p:nvSpPr>
          <p:cNvPr id="12" name="TextBox 12"/>
          <p:cNvSpPr txBox="1"/>
          <p:nvPr/>
        </p:nvSpPr>
        <p:spPr>
          <a:xfrm>
            <a:off x="1556797" y="4845656"/>
            <a:ext cx="15107837" cy="1099819"/>
          </a:xfrm>
          <a:prstGeom prst="rect">
            <a:avLst/>
          </a:prstGeom>
        </p:spPr>
        <p:txBody>
          <a:bodyPr lIns="0" tIns="0" rIns="0" bIns="0" rtlCol="0" anchor="t">
            <a:spAutoFit/>
          </a:bodyPr>
          <a:lstStyle/>
          <a:p>
            <a:pPr algn="l">
              <a:lnSpc>
                <a:spcPts val="4480"/>
              </a:lnSpc>
            </a:pPr>
            <a:r>
              <a:rPr lang="en-US" sz="3200">
                <a:solidFill>
                  <a:srgbClr val="000000"/>
                </a:solidFill>
                <a:latin typeface="Inter 1"/>
                <a:ea typeface="Inter 1"/>
                <a:cs typeface="Inter 1"/>
                <a:sym typeface="Inter 1"/>
              </a:rPr>
              <a:t>Examine the cross-sectional relationship in recent years, including whether log-transforming GDP clarifies the association.</a:t>
            </a:r>
          </a:p>
        </p:txBody>
      </p:sp>
      <p:grpSp>
        <p:nvGrpSpPr>
          <p:cNvPr id="13" name="Group 13"/>
          <p:cNvGrpSpPr/>
          <p:nvPr/>
        </p:nvGrpSpPr>
        <p:grpSpPr>
          <a:xfrm>
            <a:off x="1028700" y="6960811"/>
            <a:ext cx="243225" cy="261738"/>
            <a:chOff x="0" y="0"/>
            <a:chExt cx="64059" cy="68935"/>
          </a:xfrm>
        </p:grpSpPr>
        <p:sp>
          <p:nvSpPr>
            <p:cNvPr id="14" name="Freeform 14"/>
            <p:cNvSpPr/>
            <p:nvPr/>
          </p:nvSpPr>
          <p:spPr>
            <a:xfrm>
              <a:off x="0" y="0"/>
              <a:ext cx="64059" cy="68935"/>
            </a:xfrm>
            <a:custGeom>
              <a:avLst/>
              <a:gdLst/>
              <a:ahLst/>
              <a:cxnLst/>
              <a:rect l="l" t="t" r="r" b="b"/>
              <a:pathLst>
                <a:path w="64059" h="68935">
                  <a:moveTo>
                    <a:pt x="0" y="0"/>
                  </a:moveTo>
                  <a:lnTo>
                    <a:pt x="64059" y="0"/>
                  </a:lnTo>
                  <a:lnTo>
                    <a:pt x="64059" y="68935"/>
                  </a:lnTo>
                  <a:lnTo>
                    <a:pt x="0" y="68935"/>
                  </a:lnTo>
                  <a:close/>
                </a:path>
              </a:pathLst>
            </a:custGeom>
            <a:solidFill>
              <a:srgbClr val="000000"/>
            </a:solidFill>
          </p:spPr>
          <p:txBody>
            <a:bodyPr/>
            <a:lstStyle/>
            <a:p>
              <a:endParaRPr lang="en-SG"/>
            </a:p>
          </p:txBody>
        </p:sp>
        <p:sp>
          <p:nvSpPr>
            <p:cNvPr id="15" name="TextBox 15"/>
            <p:cNvSpPr txBox="1"/>
            <p:nvPr/>
          </p:nvSpPr>
          <p:spPr>
            <a:xfrm>
              <a:off x="0" y="-38100"/>
              <a:ext cx="64059" cy="107035"/>
            </a:xfrm>
            <a:prstGeom prst="rect">
              <a:avLst/>
            </a:prstGeom>
          </p:spPr>
          <p:txBody>
            <a:bodyPr lIns="50800" tIns="50800" rIns="50800" bIns="50800" rtlCol="0" anchor="ctr"/>
            <a:lstStyle/>
            <a:p>
              <a:pPr algn="ctr">
                <a:lnSpc>
                  <a:spcPts val="2277"/>
                </a:lnSpc>
              </a:pPr>
              <a:endParaRPr/>
            </a:p>
          </p:txBody>
        </p:sp>
      </p:grpSp>
      <p:sp>
        <p:nvSpPr>
          <p:cNvPr id="16" name="TextBox 16"/>
          <p:cNvSpPr txBox="1"/>
          <p:nvPr/>
        </p:nvSpPr>
        <p:spPr>
          <a:xfrm>
            <a:off x="1556797" y="6804620"/>
            <a:ext cx="15107837" cy="1099819"/>
          </a:xfrm>
          <a:prstGeom prst="rect">
            <a:avLst/>
          </a:prstGeom>
        </p:spPr>
        <p:txBody>
          <a:bodyPr lIns="0" tIns="0" rIns="0" bIns="0" rtlCol="0" anchor="t">
            <a:spAutoFit/>
          </a:bodyPr>
          <a:lstStyle/>
          <a:p>
            <a:pPr algn="l">
              <a:lnSpc>
                <a:spcPts val="4480"/>
              </a:lnSpc>
            </a:pPr>
            <a:r>
              <a:rPr lang="en-US" sz="3200">
                <a:solidFill>
                  <a:srgbClr val="000000"/>
                </a:solidFill>
                <a:latin typeface="Inter 1"/>
                <a:ea typeface="Inter 1"/>
                <a:cs typeface="Inter 1"/>
                <a:sym typeface="Inter 1"/>
              </a:rPr>
              <a:t>Compare outcomes across income groups and identify countries that perform better or worse than expected given their income level.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sp>
        <p:nvSpPr>
          <p:cNvPr id="2" name="AutoShape 2"/>
          <p:cNvSpPr/>
          <p:nvPr/>
        </p:nvSpPr>
        <p:spPr>
          <a:xfrm>
            <a:off x="9130090" y="5336280"/>
            <a:ext cx="7734545" cy="9930"/>
          </a:xfrm>
          <a:prstGeom prst="rect">
            <a:avLst/>
          </a:prstGeom>
          <a:solidFill>
            <a:srgbClr val="000000"/>
          </a:solidFill>
        </p:spPr>
        <p:txBody>
          <a:bodyPr/>
          <a:lstStyle/>
          <a:p>
            <a:endParaRPr lang="en-SG"/>
          </a:p>
        </p:txBody>
      </p:sp>
      <p:sp>
        <p:nvSpPr>
          <p:cNvPr id="3" name="AutoShape 3"/>
          <p:cNvSpPr/>
          <p:nvPr/>
        </p:nvSpPr>
        <p:spPr>
          <a:xfrm>
            <a:off x="0" y="0"/>
            <a:ext cx="6464146" cy="10287000"/>
          </a:xfrm>
          <a:prstGeom prst="rect">
            <a:avLst/>
          </a:prstGeom>
          <a:solidFill>
            <a:srgbClr val="373737"/>
          </a:solidFill>
        </p:spPr>
        <p:txBody>
          <a:bodyPr/>
          <a:lstStyle/>
          <a:p>
            <a:endParaRPr lang="en-SG"/>
          </a:p>
        </p:txBody>
      </p:sp>
      <p:sp>
        <p:nvSpPr>
          <p:cNvPr id="4" name="TextBox 4"/>
          <p:cNvSpPr txBox="1"/>
          <p:nvPr/>
        </p:nvSpPr>
        <p:spPr>
          <a:xfrm>
            <a:off x="1028700" y="3053682"/>
            <a:ext cx="5435446" cy="2085055"/>
          </a:xfrm>
          <a:prstGeom prst="rect">
            <a:avLst/>
          </a:prstGeom>
        </p:spPr>
        <p:txBody>
          <a:bodyPr lIns="0" tIns="0" rIns="0" bIns="0" rtlCol="0" anchor="t">
            <a:spAutoFit/>
          </a:bodyPr>
          <a:lstStyle/>
          <a:p>
            <a:pPr marL="0" lvl="0" indent="0" algn="l">
              <a:lnSpc>
                <a:spcPts val="8170"/>
              </a:lnSpc>
            </a:pPr>
            <a:r>
              <a:rPr lang="en-US" sz="7427" b="1">
                <a:solidFill>
                  <a:srgbClr val="F7F7F6"/>
                </a:solidFill>
                <a:latin typeface="Open Sans 1 Bold"/>
                <a:ea typeface="Open Sans 1 Bold"/>
                <a:cs typeface="Open Sans 1 Bold"/>
                <a:sym typeface="Open Sans 1 Bold"/>
              </a:rPr>
              <a:t>Dataset Overview</a:t>
            </a:r>
          </a:p>
        </p:txBody>
      </p:sp>
      <p:grpSp>
        <p:nvGrpSpPr>
          <p:cNvPr id="5" name="Group 5"/>
          <p:cNvGrpSpPr/>
          <p:nvPr/>
        </p:nvGrpSpPr>
        <p:grpSpPr>
          <a:xfrm>
            <a:off x="9279283" y="692520"/>
            <a:ext cx="8399150" cy="4216749"/>
            <a:chOff x="0" y="0"/>
            <a:chExt cx="11198867" cy="5622332"/>
          </a:xfrm>
        </p:grpSpPr>
        <p:sp>
          <p:nvSpPr>
            <p:cNvPr id="6" name="TextBox 6"/>
            <p:cNvSpPr txBox="1"/>
            <p:nvPr/>
          </p:nvSpPr>
          <p:spPr>
            <a:xfrm>
              <a:off x="0" y="-9525"/>
              <a:ext cx="11198867" cy="801520"/>
            </a:xfrm>
            <a:prstGeom prst="rect">
              <a:avLst/>
            </a:prstGeom>
          </p:spPr>
          <p:txBody>
            <a:bodyPr lIns="0" tIns="0" rIns="0" bIns="0" rtlCol="0" anchor="t">
              <a:spAutoFit/>
            </a:bodyPr>
            <a:lstStyle/>
            <a:p>
              <a:pPr marL="0" lvl="0" indent="0" algn="l">
                <a:lnSpc>
                  <a:spcPts val="4702"/>
                </a:lnSpc>
              </a:pPr>
              <a:r>
                <a:rPr lang="en-US" sz="3918" b="1">
                  <a:solidFill>
                    <a:srgbClr val="000000"/>
                  </a:solidFill>
                  <a:latin typeface="Open Sans 1 Bold"/>
                  <a:ea typeface="Open Sans 1 Bold"/>
                  <a:cs typeface="Open Sans 1 Bold"/>
                  <a:sym typeface="Open Sans 1 Bold"/>
                </a:rPr>
                <a:t>GDP per Capita</a:t>
              </a:r>
            </a:p>
          </p:txBody>
        </p:sp>
        <p:sp>
          <p:nvSpPr>
            <p:cNvPr id="7" name="TextBox 7"/>
            <p:cNvSpPr txBox="1"/>
            <p:nvPr/>
          </p:nvSpPr>
          <p:spPr>
            <a:xfrm>
              <a:off x="0" y="1188831"/>
              <a:ext cx="11198867" cy="4433501"/>
            </a:xfrm>
            <a:prstGeom prst="rect">
              <a:avLst/>
            </a:prstGeom>
          </p:spPr>
          <p:txBody>
            <a:bodyPr lIns="0" tIns="0" rIns="0" bIns="0" rtlCol="0" anchor="t">
              <a:spAutoFit/>
            </a:bodyPr>
            <a:lstStyle/>
            <a:p>
              <a:pPr algn="l">
                <a:lnSpc>
                  <a:spcPts val="4201"/>
                </a:lnSpc>
              </a:pPr>
              <a:r>
                <a:rPr lang="en-US" sz="3001">
                  <a:solidFill>
                    <a:srgbClr val="000000"/>
                  </a:solidFill>
                  <a:latin typeface="Open Sans 1"/>
                  <a:ea typeface="Open Sans 1"/>
                  <a:cs typeface="Open Sans 1"/>
                  <a:sym typeface="Open Sans 1"/>
                </a:rPr>
                <a:t>The Maddison Project Database, which has estimates of GDP per capita in constant international dollars over several centuries, The dataset can be downloaded by the general public through Our World in Data at</a:t>
              </a:r>
            </a:p>
            <a:p>
              <a:pPr marL="0" lvl="0" indent="0" algn="l">
                <a:lnSpc>
                  <a:spcPts val="2888"/>
                </a:lnSpc>
              </a:pPr>
              <a:r>
                <a:rPr lang="en-US" sz="2062">
                  <a:solidFill>
                    <a:srgbClr val="000000"/>
                  </a:solidFill>
                  <a:latin typeface="Open Sans 1"/>
                  <a:ea typeface="Open Sans 1"/>
                  <a:cs typeface="Open Sans 1"/>
                  <a:sym typeface="Open Sans 1"/>
                </a:rPr>
                <a:t>https://ourworldindata.org/grapher/gdp-per-capita-maddison-project-database</a:t>
              </a:r>
            </a:p>
          </p:txBody>
        </p:sp>
      </p:grpSp>
      <p:grpSp>
        <p:nvGrpSpPr>
          <p:cNvPr id="8" name="Group 8"/>
          <p:cNvGrpSpPr/>
          <p:nvPr/>
        </p:nvGrpSpPr>
        <p:grpSpPr>
          <a:xfrm>
            <a:off x="9279283" y="5940785"/>
            <a:ext cx="8399150" cy="3690433"/>
            <a:chOff x="0" y="0"/>
            <a:chExt cx="11198867" cy="4920577"/>
          </a:xfrm>
        </p:grpSpPr>
        <p:sp>
          <p:nvSpPr>
            <p:cNvPr id="9" name="TextBox 9"/>
            <p:cNvSpPr txBox="1"/>
            <p:nvPr/>
          </p:nvSpPr>
          <p:spPr>
            <a:xfrm>
              <a:off x="0" y="-9525"/>
              <a:ext cx="11198867" cy="801520"/>
            </a:xfrm>
            <a:prstGeom prst="rect">
              <a:avLst/>
            </a:prstGeom>
          </p:spPr>
          <p:txBody>
            <a:bodyPr lIns="0" tIns="0" rIns="0" bIns="0" rtlCol="0" anchor="t">
              <a:spAutoFit/>
            </a:bodyPr>
            <a:lstStyle/>
            <a:p>
              <a:pPr marL="0" lvl="0" indent="0" algn="l">
                <a:lnSpc>
                  <a:spcPts val="4702"/>
                </a:lnSpc>
              </a:pPr>
              <a:r>
                <a:rPr lang="en-US" sz="3918" b="1">
                  <a:solidFill>
                    <a:srgbClr val="000000"/>
                  </a:solidFill>
                  <a:latin typeface="Open Sans 1 Bold"/>
                  <a:ea typeface="Open Sans 1 Bold"/>
                  <a:cs typeface="Open Sans 1 Bold"/>
                  <a:sym typeface="Open Sans 1 Bold"/>
                </a:rPr>
                <a:t>Life Expectancy</a:t>
              </a:r>
            </a:p>
          </p:txBody>
        </p:sp>
        <p:sp>
          <p:nvSpPr>
            <p:cNvPr id="10" name="TextBox 10"/>
            <p:cNvSpPr txBox="1"/>
            <p:nvPr/>
          </p:nvSpPr>
          <p:spPr>
            <a:xfrm>
              <a:off x="0" y="1188831"/>
              <a:ext cx="11198867" cy="3731746"/>
            </a:xfrm>
            <a:prstGeom prst="rect">
              <a:avLst/>
            </a:prstGeom>
          </p:spPr>
          <p:txBody>
            <a:bodyPr lIns="0" tIns="0" rIns="0" bIns="0" rtlCol="0" anchor="t">
              <a:spAutoFit/>
            </a:bodyPr>
            <a:lstStyle/>
            <a:p>
              <a:pPr marL="0" lvl="0" indent="0" algn="l">
                <a:lnSpc>
                  <a:spcPts val="4201"/>
                </a:lnSpc>
              </a:pPr>
              <a:r>
                <a:rPr lang="en-US" sz="3001">
                  <a:solidFill>
                    <a:srgbClr val="000000"/>
                  </a:solidFill>
                  <a:latin typeface="Open Sans 1"/>
                  <a:ea typeface="Open Sans 1"/>
                  <a:cs typeface="Open Sans 1"/>
                  <a:sym typeface="Open Sans 1"/>
                </a:rPr>
                <a:t>Life expectancy data: are drawn from an Our World in Data dataset containing period life expectancy estimates at multiple ages (0, 10, 15, 25, 45, 65 and 80) by country and year</a:t>
              </a:r>
            </a:p>
            <a:p>
              <a:pPr marL="0" lvl="0" indent="0" algn="l">
                <a:lnSpc>
                  <a:spcPts val="2888"/>
                </a:lnSpc>
              </a:pPr>
              <a:r>
                <a:rPr lang="en-US" sz="2062">
                  <a:solidFill>
                    <a:srgbClr val="000000"/>
                  </a:solidFill>
                  <a:latin typeface="Open Sans 1"/>
                  <a:ea typeface="Open Sans 1"/>
                  <a:cs typeface="Open Sans 1"/>
                  <a:sym typeface="Open Sans 1"/>
                </a:rPr>
                <a:t>https://ourworldindata.org/grapher/life-expectancy-hmd-unwpp?country=FRA~ZAF~NGA~CHN</a:t>
              </a:r>
            </a:p>
          </p:txBody>
        </p:sp>
      </p:grpSp>
      <p:sp>
        <p:nvSpPr>
          <p:cNvPr id="11" name="TextBox 11"/>
          <p:cNvSpPr txBox="1"/>
          <p:nvPr/>
        </p:nvSpPr>
        <p:spPr>
          <a:xfrm>
            <a:off x="7615344" y="565150"/>
            <a:ext cx="1462503" cy="1038920"/>
          </a:xfrm>
          <a:prstGeom prst="rect">
            <a:avLst/>
          </a:prstGeom>
        </p:spPr>
        <p:txBody>
          <a:bodyPr lIns="0" tIns="0" rIns="0" bIns="0" rtlCol="0" anchor="t">
            <a:spAutoFit/>
          </a:bodyPr>
          <a:lstStyle/>
          <a:p>
            <a:pPr algn="r">
              <a:lnSpc>
                <a:spcPts val="8027"/>
              </a:lnSpc>
            </a:pPr>
            <a:r>
              <a:rPr lang="en-US" sz="7297" b="1">
                <a:solidFill>
                  <a:srgbClr val="000000">
                    <a:alpha val="49804"/>
                  </a:srgbClr>
                </a:solidFill>
                <a:latin typeface="Open Sans 1 Bold"/>
                <a:ea typeface="Open Sans 1 Bold"/>
                <a:cs typeface="Open Sans 1 Bold"/>
                <a:sym typeface="Open Sans 1 Bold"/>
              </a:rPr>
              <a:t>01</a:t>
            </a:r>
          </a:p>
        </p:txBody>
      </p:sp>
      <p:sp>
        <p:nvSpPr>
          <p:cNvPr id="12" name="TextBox 12"/>
          <p:cNvSpPr txBox="1"/>
          <p:nvPr/>
        </p:nvSpPr>
        <p:spPr>
          <a:xfrm>
            <a:off x="7413908" y="5840000"/>
            <a:ext cx="1462503" cy="1038920"/>
          </a:xfrm>
          <a:prstGeom prst="rect">
            <a:avLst/>
          </a:prstGeom>
        </p:spPr>
        <p:txBody>
          <a:bodyPr lIns="0" tIns="0" rIns="0" bIns="0" rtlCol="0" anchor="t">
            <a:spAutoFit/>
          </a:bodyPr>
          <a:lstStyle/>
          <a:p>
            <a:pPr algn="r">
              <a:lnSpc>
                <a:spcPts val="8027"/>
              </a:lnSpc>
            </a:pPr>
            <a:r>
              <a:rPr lang="en-US" sz="7297" b="1">
                <a:solidFill>
                  <a:srgbClr val="000000">
                    <a:alpha val="49804"/>
                  </a:srgbClr>
                </a:solidFill>
                <a:latin typeface="Open Sans 1 Bold"/>
                <a:ea typeface="Open Sans 1 Bold"/>
                <a:cs typeface="Open Sans 1 Bold"/>
                <a:sym typeface="Open Sans 1 Bold"/>
              </a:rPr>
              <a:t>02</a:t>
            </a:r>
          </a:p>
        </p:txBody>
      </p:sp>
      <p:sp>
        <p:nvSpPr>
          <p:cNvPr id="13" name="TextBox 13"/>
          <p:cNvSpPr txBox="1"/>
          <p:nvPr/>
        </p:nvSpPr>
        <p:spPr>
          <a:xfrm>
            <a:off x="1028700" y="8902065"/>
            <a:ext cx="3311757" cy="356235"/>
          </a:xfrm>
          <a:prstGeom prst="rect">
            <a:avLst/>
          </a:prstGeom>
        </p:spPr>
        <p:txBody>
          <a:bodyPr lIns="0" tIns="0" rIns="0" bIns="0" rtlCol="0" anchor="t">
            <a:spAutoFit/>
          </a:bodyPr>
          <a:lstStyle/>
          <a:p>
            <a:pPr algn="l">
              <a:lnSpc>
                <a:spcPts val="2940"/>
              </a:lnSpc>
            </a:pPr>
            <a:r>
              <a:rPr lang="en-US" sz="2100">
                <a:solidFill>
                  <a:srgbClr val="F7F7F6"/>
                </a:solidFill>
                <a:latin typeface="Open Sans 1"/>
                <a:ea typeface="Open Sans 1"/>
                <a:cs typeface="Open Sans 1"/>
                <a:sym typeface="Open Sans 1"/>
              </a:rPr>
              <a:t>Dataset Overview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sp>
        <p:nvSpPr>
          <p:cNvPr id="6" name="AutoShape 2">
            <a:extLst>
              <a:ext uri="{FF2B5EF4-FFF2-40B4-BE49-F238E27FC236}">
                <a16:creationId xmlns:a16="http://schemas.microsoft.com/office/drawing/2014/main" id="{7B3FDE41-C749-38BE-9F36-1831EC455AD2}"/>
              </a:ext>
            </a:extLst>
          </p:cNvPr>
          <p:cNvSpPr/>
          <p:nvPr/>
        </p:nvSpPr>
        <p:spPr>
          <a:xfrm>
            <a:off x="0" y="0"/>
            <a:ext cx="6234637" cy="10287000"/>
          </a:xfrm>
          <a:prstGeom prst="rect">
            <a:avLst/>
          </a:prstGeom>
          <a:solidFill>
            <a:srgbClr val="999999"/>
          </a:solidFill>
        </p:spPr>
        <p:txBody>
          <a:bodyPr/>
          <a:lstStyle/>
          <a:p>
            <a:endParaRPr lang="en-SG"/>
          </a:p>
        </p:txBody>
      </p:sp>
      <p:sp>
        <p:nvSpPr>
          <p:cNvPr id="4" name="TextBox 4"/>
          <p:cNvSpPr txBox="1"/>
          <p:nvPr/>
        </p:nvSpPr>
        <p:spPr>
          <a:xfrm>
            <a:off x="1028700" y="3058445"/>
            <a:ext cx="5435446" cy="2085055"/>
          </a:xfrm>
          <a:prstGeom prst="rect">
            <a:avLst/>
          </a:prstGeom>
        </p:spPr>
        <p:txBody>
          <a:bodyPr lIns="0" tIns="0" rIns="0" bIns="0" rtlCol="0" anchor="t">
            <a:spAutoFit/>
          </a:bodyPr>
          <a:lstStyle/>
          <a:p>
            <a:pPr marL="0" lvl="0" indent="0" algn="l">
              <a:lnSpc>
                <a:spcPts val="8170"/>
              </a:lnSpc>
            </a:pPr>
            <a:r>
              <a:rPr lang="en-US" sz="7427" b="1">
                <a:solidFill>
                  <a:srgbClr val="000000"/>
                </a:solidFill>
                <a:latin typeface="Inter 1 Bold"/>
                <a:ea typeface="Inter 1 Bold"/>
                <a:cs typeface="Inter 1 Bold"/>
                <a:sym typeface="Inter 1 Bold"/>
              </a:rPr>
              <a:t>GDP per capita</a:t>
            </a:r>
          </a:p>
        </p:txBody>
      </p:sp>
      <p:sp>
        <p:nvSpPr>
          <p:cNvPr id="5" name="TextBox 5"/>
          <p:cNvSpPr txBox="1"/>
          <p:nvPr/>
        </p:nvSpPr>
        <p:spPr>
          <a:xfrm>
            <a:off x="1028700" y="8902065"/>
            <a:ext cx="3311757" cy="356235"/>
          </a:xfrm>
          <a:prstGeom prst="rect">
            <a:avLst/>
          </a:prstGeom>
        </p:spPr>
        <p:txBody>
          <a:bodyPr lIns="0" tIns="0" rIns="0" bIns="0" rtlCol="0" anchor="t">
            <a:spAutoFit/>
          </a:bodyPr>
          <a:lstStyle/>
          <a:p>
            <a:pPr algn="l">
              <a:lnSpc>
                <a:spcPts val="2940"/>
              </a:lnSpc>
            </a:pPr>
            <a:r>
              <a:rPr lang="en-US" sz="2100" i="1">
                <a:solidFill>
                  <a:srgbClr val="000000"/>
                </a:solidFill>
                <a:latin typeface="Inter 1 Italics"/>
                <a:ea typeface="Inter 1 Italics"/>
                <a:cs typeface="Inter 1 Italics"/>
                <a:sym typeface="Inter 1 Italics"/>
              </a:rPr>
              <a:t>DATASET OVERVIEW</a:t>
            </a:r>
          </a:p>
        </p:txBody>
      </p:sp>
      <p:graphicFrame>
        <p:nvGraphicFramePr>
          <p:cNvPr id="7" name="Table 6">
            <a:extLst>
              <a:ext uri="{FF2B5EF4-FFF2-40B4-BE49-F238E27FC236}">
                <a16:creationId xmlns:a16="http://schemas.microsoft.com/office/drawing/2014/main" id="{6EF21A0B-6E5E-340E-8568-4B4CFA26455C}"/>
              </a:ext>
            </a:extLst>
          </p:cNvPr>
          <p:cNvGraphicFramePr>
            <a:graphicFrameLocks noGrp="1"/>
          </p:cNvGraphicFramePr>
          <p:nvPr>
            <p:extLst>
              <p:ext uri="{D42A27DB-BD31-4B8C-83A1-F6EECF244321}">
                <p14:modId xmlns:p14="http://schemas.microsoft.com/office/powerpoint/2010/main" val="4007689458"/>
              </p:ext>
            </p:extLst>
          </p:nvPr>
        </p:nvGraphicFramePr>
        <p:xfrm>
          <a:off x="6456488" y="233835"/>
          <a:ext cx="11526712" cy="9920172"/>
        </p:xfrm>
        <a:graphic>
          <a:graphicData uri="http://schemas.openxmlformats.org/drawingml/2006/table">
            <a:tbl>
              <a:tblPr/>
              <a:tblGrid>
                <a:gridCol w="2535112">
                  <a:extLst>
                    <a:ext uri="{9D8B030D-6E8A-4147-A177-3AD203B41FA5}">
                      <a16:colId xmlns:a16="http://schemas.microsoft.com/office/drawing/2014/main" val="3222274435"/>
                    </a:ext>
                  </a:extLst>
                </a:gridCol>
                <a:gridCol w="8991600">
                  <a:extLst>
                    <a:ext uri="{9D8B030D-6E8A-4147-A177-3AD203B41FA5}">
                      <a16:colId xmlns:a16="http://schemas.microsoft.com/office/drawing/2014/main" val="1027933129"/>
                    </a:ext>
                  </a:extLst>
                </a:gridCol>
              </a:tblGrid>
              <a:tr h="688328">
                <a:tc>
                  <a:txBody>
                    <a:bodyPr/>
                    <a:lstStyle/>
                    <a:p>
                      <a:pPr>
                        <a:buNone/>
                      </a:pPr>
                      <a:r>
                        <a:rPr lang="en-SG" sz="3200" b="1" dirty="0">
                          <a:effectLst/>
                        </a:rPr>
                        <a:t>Feature</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tc>
                  <a:txBody>
                    <a:bodyPr/>
                    <a:lstStyle/>
                    <a:p>
                      <a:pPr>
                        <a:buNone/>
                      </a:pPr>
                      <a:r>
                        <a:rPr lang="en-SG" sz="3200" b="1" dirty="0">
                          <a:effectLst/>
                        </a:rPr>
                        <a:t>Description</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908448"/>
                  </a:ext>
                </a:extLst>
              </a:tr>
              <a:tr h="1030431">
                <a:tc>
                  <a:txBody>
                    <a:bodyPr/>
                    <a:lstStyle/>
                    <a:p>
                      <a:pPr>
                        <a:buNone/>
                      </a:pPr>
                      <a:r>
                        <a:rPr lang="en-SG" sz="3200" b="1" dirty="0">
                          <a:effectLst/>
                        </a:rPr>
                        <a:t>Year</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tc>
                  <a:txBody>
                    <a:bodyPr/>
                    <a:lstStyle/>
                    <a:p>
                      <a:pPr>
                        <a:buNone/>
                      </a:pPr>
                      <a:r>
                        <a:rPr lang="en-US" sz="3200" dirty="0">
                          <a:effectLst/>
                        </a:rPr>
                        <a:t>Calendar year of measurement. Dataset is annual time-series.</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787351921"/>
                  </a:ext>
                </a:extLst>
              </a:tr>
              <a:tr h="1031015">
                <a:tc>
                  <a:txBody>
                    <a:bodyPr/>
                    <a:lstStyle/>
                    <a:p>
                      <a:pPr>
                        <a:buNone/>
                      </a:pPr>
                      <a:r>
                        <a:rPr lang="en-SG" sz="3200" b="1" dirty="0">
                          <a:effectLst/>
                        </a:rPr>
                        <a:t>Entity</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tc>
                  <a:txBody>
                    <a:bodyPr/>
                    <a:lstStyle/>
                    <a:p>
                      <a:pPr>
                        <a:buNone/>
                      </a:pPr>
                      <a:r>
                        <a:rPr lang="en-US" sz="3200" dirty="0">
                          <a:effectLst/>
                        </a:rPr>
                        <a:t>Country or region name (e.g. Afghanistan, Spain, United Kingdom).</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1144372844"/>
                  </a:ext>
                </a:extLst>
              </a:tr>
              <a:tr h="1150207">
                <a:tc>
                  <a:txBody>
                    <a:bodyPr/>
                    <a:lstStyle/>
                    <a:p>
                      <a:pPr>
                        <a:buNone/>
                      </a:pPr>
                      <a:r>
                        <a:rPr lang="en-SG" sz="3200" b="1" dirty="0">
                          <a:effectLst/>
                        </a:rPr>
                        <a:t>Code</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tc>
                  <a:txBody>
                    <a:bodyPr/>
                    <a:lstStyle/>
                    <a:p>
                      <a:pPr>
                        <a:buNone/>
                      </a:pPr>
                      <a:r>
                        <a:rPr lang="en-US" sz="3200">
                          <a:effectLst/>
                        </a:rPr>
                        <a:t>ISO-3 country code used to uniquely identify each Entity.</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34181771"/>
                  </a:ext>
                </a:extLst>
              </a:tr>
              <a:tr h="1567386">
                <a:tc>
                  <a:txBody>
                    <a:bodyPr/>
                    <a:lstStyle/>
                    <a:p>
                      <a:pPr>
                        <a:buNone/>
                      </a:pPr>
                      <a:r>
                        <a:rPr lang="en-SG" sz="3200" b="1" dirty="0">
                          <a:effectLst/>
                        </a:rPr>
                        <a:t>Year</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tc>
                  <a:txBody>
                    <a:bodyPr/>
                    <a:lstStyle/>
                    <a:p>
                      <a:pPr>
                        <a:buNone/>
                      </a:pPr>
                      <a:r>
                        <a:rPr lang="en-US" sz="3200" dirty="0">
                          <a:effectLst/>
                        </a:rPr>
                        <a:t>Calendar year of measurement. Dataset is annual time-series.</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05063387"/>
                  </a:ext>
                </a:extLst>
              </a:tr>
              <a:tr h="2421057">
                <a:tc>
                  <a:txBody>
                    <a:bodyPr/>
                    <a:lstStyle/>
                    <a:p>
                      <a:pPr>
                        <a:buNone/>
                      </a:pPr>
                      <a:r>
                        <a:rPr lang="en-SG" sz="3200" b="1" dirty="0">
                          <a:effectLst/>
                        </a:rPr>
                        <a:t>GDP per capita</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tc>
                  <a:txBody>
                    <a:bodyPr/>
                    <a:lstStyle/>
                    <a:p>
                      <a:pPr>
                        <a:buNone/>
                      </a:pPr>
                      <a:r>
                        <a:rPr lang="en-US" sz="3200" dirty="0">
                          <a:effectLst/>
                        </a:rPr>
                        <a:t>Gross Domestic Product per person, measured in constant international dollars. This represents economic output adjusted for population size and inflation, making it comparable across countries and over time.</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291948656"/>
                  </a:ext>
                </a:extLst>
              </a:tr>
              <a:tr h="1974233">
                <a:tc>
                  <a:txBody>
                    <a:bodyPr/>
                    <a:lstStyle/>
                    <a:p>
                      <a:pPr>
                        <a:buNone/>
                      </a:pPr>
                      <a:r>
                        <a:rPr lang="en-SG" sz="3200" b="1" dirty="0">
                          <a:effectLst/>
                        </a:rPr>
                        <a:t>900793-annotations</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tc>
                  <a:txBody>
                    <a:bodyPr/>
                    <a:lstStyle/>
                    <a:p>
                      <a:pPr>
                        <a:buNone/>
                      </a:pPr>
                      <a:r>
                        <a:rPr lang="en-US" sz="3200" dirty="0">
                          <a:effectLst/>
                        </a:rPr>
                        <a:t>Auxiliary metadata column (mostly empty). Contains annotation flags used internally by the source </a:t>
                      </a:r>
                      <a:r>
                        <a:rPr lang="en-US" sz="3200" dirty="0" err="1">
                          <a:effectLst/>
                        </a:rPr>
                        <a:t>organisation</a:t>
                      </a:r>
                      <a:r>
                        <a:rPr lang="en-US" sz="3200" dirty="0">
                          <a:effectLst/>
                        </a:rPr>
                        <a:t>. Not used for modelling or analysis.</a:t>
                      </a:r>
                    </a:p>
                  </a:txBody>
                  <a:tcPr marL="40172" marR="40172" marT="20086" marB="20086"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7750874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2" name="AutoShape 2"/>
          <p:cNvSpPr/>
          <p:nvPr/>
        </p:nvSpPr>
        <p:spPr>
          <a:xfrm>
            <a:off x="0" y="0"/>
            <a:ext cx="6234637" cy="10287000"/>
          </a:xfrm>
          <a:prstGeom prst="rect">
            <a:avLst/>
          </a:prstGeom>
          <a:solidFill>
            <a:srgbClr val="999999"/>
          </a:solidFill>
        </p:spPr>
        <p:txBody>
          <a:bodyPr/>
          <a:lstStyle/>
          <a:p>
            <a:endParaRPr lang="en-SG"/>
          </a:p>
        </p:txBody>
      </p:sp>
      <p:sp>
        <p:nvSpPr>
          <p:cNvPr id="4" name="TextBox 4"/>
          <p:cNvSpPr txBox="1"/>
          <p:nvPr/>
        </p:nvSpPr>
        <p:spPr>
          <a:xfrm>
            <a:off x="406179" y="3058445"/>
            <a:ext cx="5435446" cy="2085055"/>
          </a:xfrm>
          <a:prstGeom prst="rect">
            <a:avLst/>
          </a:prstGeom>
        </p:spPr>
        <p:txBody>
          <a:bodyPr lIns="0" tIns="0" rIns="0" bIns="0" rtlCol="0" anchor="t">
            <a:spAutoFit/>
          </a:bodyPr>
          <a:lstStyle/>
          <a:p>
            <a:pPr marL="0" lvl="0" indent="0" algn="l">
              <a:lnSpc>
                <a:spcPts val="8170"/>
              </a:lnSpc>
            </a:pPr>
            <a:r>
              <a:rPr lang="en-US" sz="7427" b="1">
                <a:solidFill>
                  <a:srgbClr val="000000"/>
                </a:solidFill>
                <a:latin typeface="Inter 1 Bold"/>
                <a:ea typeface="Inter 1 Bold"/>
                <a:cs typeface="Inter 1 Bold"/>
                <a:sym typeface="Inter 1 Bold"/>
              </a:rPr>
              <a:t>Life Expectancy</a:t>
            </a:r>
          </a:p>
        </p:txBody>
      </p:sp>
      <p:sp>
        <p:nvSpPr>
          <p:cNvPr id="5" name="TextBox 5"/>
          <p:cNvSpPr txBox="1"/>
          <p:nvPr/>
        </p:nvSpPr>
        <p:spPr>
          <a:xfrm>
            <a:off x="1028700" y="8902065"/>
            <a:ext cx="3311757" cy="356235"/>
          </a:xfrm>
          <a:prstGeom prst="rect">
            <a:avLst/>
          </a:prstGeom>
        </p:spPr>
        <p:txBody>
          <a:bodyPr lIns="0" tIns="0" rIns="0" bIns="0" rtlCol="0" anchor="t">
            <a:spAutoFit/>
          </a:bodyPr>
          <a:lstStyle/>
          <a:p>
            <a:pPr algn="l">
              <a:lnSpc>
                <a:spcPts val="2940"/>
              </a:lnSpc>
            </a:pPr>
            <a:r>
              <a:rPr lang="en-US" sz="2100" i="1">
                <a:solidFill>
                  <a:srgbClr val="000000"/>
                </a:solidFill>
                <a:latin typeface="Inter 1 Italics"/>
                <a:ea typeface="Inter 1 Italics"/>
                <a:cs typeface="Inter 1 Italics"/>
                <a:sym typeface="Inter 1 Italics"/>
              </a:rPr>
              <a:t>Dataset Overview</a:t>
            </a:r>
          </a:p>
        </p:txBody>
      </p:sp>
      <p:graphicFrame>
        <p:nvGraphicFramePr>
          <p:cNvPr id="6" name="Table 5">
            <a:extLst>
              <a:ext uri="{FF2B5EF4-FFF2-40B4-BE49-F238E27FC236}">
                <a16:creationId xmlns:a16="http://schemas.microsoft.com/office/drawing/2014/main" id="{238FC4FE-5408-AD2A-8DFC-10DDB451E583}"/>
              </a:ext>
            </a:extLst>
          </p:cNvPr>
          <p:cNvGraphicFramePr>
            <a:graphicFrameLocks noGrp="1"/>
          </p:cNvGraphicFramePr>
          <p:nvPr>
            <p:extLst>
              <p:ext uri="{D42A27DB-BD31-4B8C-83A1-F6EECF244321}">
                <p14:modId xmlns:p14="http://schemas.microsoft.com/office/powerpoint/2010/main" val="1960228825"/>
              </p:ext>
            </p:extLst>
          </p:nvPr>
        </p:nvGraphicFramePr>
        <p:xfrm>
          <a:off x="6477000" y="190500"/>
          <a:ext cx="11658600" cy="9906000"/>
        </p:xfrm>
        <a:graphic>
          <a:graphicData uri="http://schemas.openxmlformats.org/drawingml/2006/table">
            <a:tbl>
              <a:tblPr/>
              <a:tblGrid>
                <a:gridCol w="4419600">
                  <a:extLst>
                    <a:ext uri="{9D8B030D-6E8A-4147-A177-3AD203B41FA5}">
                      <a16:colId xmlns:a16="http://schemas.microsoft.com/office/drawing/2014/main" val="1303547245"/>
                    </a:ext>
                  </a:extLst>
                </a:gridCol>
                <a:gridCol w="7239000">
                  <a:extLst>
                    <a:ext uri="{9D8B030D-6E8A-4147-A177-3AD203B41FA5}">
                      <a16:colId xmlns:a16="http://schemas.microsoft.com/office/drawing/2014/main" val="3089070430"/>
                    </a:ext>
                  </a:extLst>
                </a:gridCol>
              </a:tblGrid>
              <a:tr h="1373104">
                <a:tc>
                  <a:txBody>
                    <a:bodyPr/>
                    <a:lstStyle/>
                    <a:p>
                      <a:pPr>
                        <a:buNone/>
                      </a:pPr>
                      <a:r>
                        <a:rPr lang="en-SG" sz="3000" b="1" dirty="0">
                          <a:effectLst/>
                        </a:rPr>
                        <a:t>Feature</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tc>
                  <a:txBody>
                    <a:bodyPr/>
                    <a:lstStyle/>
                    <a:p>
                      <a:pPr>
                        <a:buNone/>
                      </a:pPr>
                      <a:r>
                        <a:rPr lang="en-SG" sz="3000" b="1" dirty="0">
                          <a:effectLst/>
                        </a:rPr>
                        <a:t>Description</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00672222"/>
                  </a:ext>
                </a:extLst>
              </a:tr>
              <a:tr h="2133224">
                <a:tc>
                  <a:txBody>
                    <a:bodyPr/>
                    <a:lstStyle/>
                    <a:p>
                      <a:pPr>
                        <a:buNone/>
                      </a:pPr>
                      <a:r>
                        <a:rPr lang="en-SG" sz="3000" b="1" dirty="0">
                          <a:effectLst/>
                        </a:rPr>
                        <a:t>Entity</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dash"/>
                      <a:round/>
                      <a:headEnd type="none" w="med" len="med"/>
                      <a:tailEnd type="none" w="med" len="med"/>
                    </a:lnB>
                    <a:solidFill>
                      <a:srgbClr val="FFFFFF"/>
                    </a:solidFill>
                  </a:tcPr>
                </a:tc>
                <a:tc>
                  <a:txBody>
                    <a:bodyPr/>
                    <a:lstStyle/>
                    <a:p>
                      <a:pPr>
                        <a:buNone/>
                      </a:pPr>
                      <a:r>
                        <a:rPr lang="en-US" sz="3000" dirty="0">
                          <a:effectLst/>
                        </a:rPr>
                        <a:t>Country or region name (e.g. Afghanistan)</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160909236"/>
                  </a:ext>
                </a:extLst>
              </a:tr>
              <a:tr h="2133224">
                <a:tc>
                  <a:txBody>
                    <a:bodyPr/>
                    <a:lstStyle/>
                    <a:p>
                      <a:pPr>
                        <a:buNone/>
                      </a:pPr>
                      <a:r>
                        <a:rPr lang="en-SG" sz="3000" b="1" dirty="0">
                          <a:effectLst/>
                        </a:rPr>
                        <a:t>Code</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rgbClr val="FFFFFF"/>
                    </a:solidFill>
                  </a:tcPr>
                </a:tc>
                <a:tc>
                  <a:txBody>
                    <a:bodyPr/>
                    <a:lstStyle/>
                    <a:p>
                      <a:pPr>
                        <a:buNone/>
                      </a:pPr>
                      <a:r>
                        <a:rPr lang="en-SG" sz="3000" dirty="0">
                          <a:effectLst/>
                        </a:rPr>
                        <a:t>ISO-3 country code</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511612453"/>
                  </a:ext>
                </a:extLst>
              </a:tr>
              <a:tr h="2133224">
                <a:tc>
                  <a:txBody>
                    <a:bodyPr/>
                    <a:lstStyle/>
                    <a:p>
                      <a:pPr>
                        <a:buNone/>
                      </a:pPr>
                      <a:r>
                        <a:rPr lang="en-SG" sz="3000" b="1" dirty="0">
                          <a:effectLst/>
                        </a:rPr>
                        <a:t>Year</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rgbClr val="FFFFFF"/>
                    </a:solidFill>
                  </a:tcPr>
                </a:tc>
                <a:tc>
                  <a:txBody>
                    <a:bodyPr/>
                    <a:lstStyle/>
                    <a:p>
                      <a:pPr>
                        <a:buNone/>
                      </a:pPr>
                      <a:r>
                        <a:rPr lang="en-SG" sz="3000" dirty="0">
                          <a:effectLst/>
                        </a:rPr>
                        <a:t>Calendar year of observation</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583910650"/>
                  </a:ext>
                </a:extLst>
              </a:tr>
              <a:tr h="2133224">
                <a:tc>
                  <a:txBody>
                    <a:bodyPr/>
                    <a:lstStyle/>
                    <a:p>
                      <a:pPr>
                        <a:buNone/>
                      </a:pPr>
                      <a:r>
                        <a:rPr lang="en-SG" sz="3000" b="1" dirty="0">
                          <a:effectLst/>
                        </a:rPr>
                        <a:t>Life expectancy variables </a:t>
                      </a:r>
                    </a:p>
                    <a:p>
                      <a:pPr>
                        <a:buNone/>
                      </a:pPr>
                      <a:r>
                        <a:rPr lang="en-SG" sz="3000" b="1" dirty="0">
                          <a:effectLst/>
                        </a:rPr>
                        <a:t>(7 columns)</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tc>
                  <a:txBody>
                    <a:bodyPr/>
                    <a:lstStyle/>
                    <a:p>
                      <a:pPr>
                        <a:buNone/>
                      </a:pPr>
                      <a:r>
                        <a:rPr lang="en-US" sz="3000" dirty="0">
                          <a:effectLst/>
                        </a:rPr>
                        <a:t>Period life expectancy measures at ages 0, 10, 15, 25, 45, 65, 80 — expected remaining years of life at each age, averaged across sexes</a:t>
                      </a:r>
                    </a:p>
                  </a:txBody>
                  <a:tcPr marL="40231" marR="40231" marT="20115" marB="2011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5227317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sp>
        <p:nvSpPr>
          <p:cNvPr id="2" name="Freeform 2"/>
          <p:cNvSpPr/>
          <p:nvPr/>
        </p:nvSpPr>
        <p:spPr>
          <a:xfrm rot="-5400000">
            <a:off x="16316729" y="742527"/>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3" name="Freeform 3"/>
          <p:cNvSpPr/>
          <p:nvPr/>
        </p:nvSpPr>
        <p:spPr>
          <a:xfrm>
            <a:off x="2586473" y="1160756"/>
            <a:ext cx="13115055" cy="6625534"/>
          </a:xfrm>
          <a:custGeom>
            <a:avLst/>
            <a:gdLst/>
            <a:ahLst/>
            <a:cxnLst/>
            <a:rect l="l" t="t" r="r" b="b"/>
            <a:pathLst>
              <a:path w="13115055" h="6625534">
                <a:moveTo>
                  <a:pt x="0" y="0"/>
                </a:moveTo>
                <a:lnTo>
                  <a:pt x="13115054" y="0"/>
                </a:lnTo>
                <a:lnTo>
                  <a:pt x="13115054" y="6625534"/>
                </a:lnTo>
                <a:lnTo>
                  <a:pt x="0" y="6625534"/>
                </a:lnTo>
                <a:lnTo>
                  <a:pt x="0" y="0"/>
                </a:lnTo>
                <a:close/>
              </a:path>
            </a:pathLst>
          </a:custGeom>
          <a:blipFill>
            <a:blip r:embed="rId4"/>
            <a:stretch>
              <a:fillRect l="-785"/>
            </a:stretch>
          </a:blipFill>
        </p:spPr>
        <p:txBody>
          <a:bodyPr/>
          <a:lstStyle/>
          <a:p>
            <a:endParaRPr lang="en-SG"/>
          </a:p>
        </p:txBody>
      </p:sp>
      <p:sp>
        <p:nvSpPr>
          <p:cNvPr id="4" name="Freeform 4"/>
          <p:cNvSpPr/>
          <p:nvPr/>
        </p:nvSpPr>
        <p:spPr>
          <a:xfrm>
            <a:off x="1851807" y="7654234"/>
            <a:ext cx="14584386" cy="2632766"/>
          </a:xfrm>
          <a:custGeom>
            <a:avLst/>
            <a:gdLst/>
            <a:ahLst/>
            <a:cxnLst/>
            <a:rect l="l" t="t" r="r" b="b"/>
            <a:pathLst>
              <a:path w="14584386" h="2632766">
                <a:moveTo>
                  <a:pt x="0" y="0"/>
                </a:moveTo>
                <a:lnTo>
                  <a:pt x="14584386" y="0"/>
                </a:lnTo>
                <a:lnTo>
                  <a:pt x="14584386" y="2632766"/>
                </a:lnTo>
                <a:lnTo>
                  <a:pt x="0" y="2632766"/>
                </a:lnTo>
                <a:lnTo>
                  <a:pt x="0" y="0"/>
                </a:lnTo>
                <a:close/>
              </a:path>
            </a:pathLst>
          </a:custGeom>
          <a:blipFill>
            <a:blip r:embed="rId5"/>
            <a:stretch>
              <a:fillRect/>
            </a:stretch>
          </a:blipFill>
        </p:spPr>
        <p:txBody>
          <a:bodyPr/>
          <a:lstStyle/>
          <a:p>
            <a:endParaRPr lang="en-SG"/>
          </a:p>
        </p:txBody>
      </p:sp>
      <p:sp>
        <p:nvSpPr>
          <p:cNvPr id="5" name="TextBox 5"/>
          <p:cNvSpPr txBox="1"/>
          <p:nvPr/>
        </p:nvSpPr>
        <p:spPr>
          <a:xfrm>
            <a:off x="268640" y="0"/>
            <a:ext cx="15761916" cy="1581150"/>
          </a:xfrm>
          <a:prstGeom prst="rect">
            <a:avLst/>
          </a:prstGeom>
        </p:spPr>
        <p:txBody>
          <a:bodyPr lIns="0" tIns="0" rIns="0" bIns="0" rtlCol="0" anchor="t">
            <a:spAutoFit/>
          </a:bodyPr>
          <a:lstStyle/>
          <a:p>
            <a:pPr algn="l">
              <a:lnSpc>
                <a:spcPts val="7440"/>
              </a:lnSpc>
            </a:pPr>
            <a:r>
              <a:rPr lang="en-US" sz="6200" b="1">
                <a:solidFill>
                  <a:srgbClr val="000000"/>
                </a:solidFill>
                <a:latin typeface="Inter 1 Bold"/>
                <a:ea typeface="Inter 1 Bold"/>
                <a:cs typeface="Inter 1 Bold"/>
                <a:sym typeface="Inter 1 Bold"/>
              </a:rPr>
              <a:t>Descriptive Statistics: </a:t>
            </a:r>
          </a:p>
          <a:p>
            <a:pPr marL="0" lvl="0" indent="0" algn="l">
              <a:lnSpc>
                <a:spcPts val="5040"/>
              </a:lnSpc>
              <a:spcBef>
                <a:spcPct val="0"/>
              </a:spcBef>
            </a:pPr>
            <a:r>
              <a:rPr lang="en-US" sz="4200" b="1">
                <a:solidFill>
                  <a:srgbClr val="000000"/>
                </a:solidFill>
                <a:latin typeface="Inter 1 Bold"/>
                <a:ea typeface="Inter 1 Bold"/>
                <a:cs typeface="Inter 1 Bold"/>
                <a:sym typeface="Inter 1 Bold"/>
              </a:rPr>
              <a:t>GDP per Capita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sp>
        <p:nvSpPr>
          <p:cNvPr id="2" name="Freeform 2"/>
          <p:cNvSpPr/>
          <p:nvPr/>
        </p:nvSpPr>
        <p:spPr>
          <a:xfrm>
            <a:off x="457485" y="2642236"/>
            <a:ext cx="17466621" cy="7030315"/>
          </a:xfrm>
          <a:custGeom>
            <a:avLst/>
            <a:gdLst/>
            <a:ahLst/>
            <a:cxnLst/>
            <a:rect l="l" t="t" r="r" b="b"/>
            <a:pathLst>
              <a:path w="17466621" h="7030315">
                <a:moveTo>
                  <a:pt x="0" y="0"/>
                </a:moveTo>
                <a:lnTo>
                  <a:pt x="17466621" y="0"/>
                </a:lnTo>
                <a:lnTo>
                  <a:pt x="17466621" y="7030315"/>
                </a:lnTo>
                <a:lnTo>
                  <a:pt x="0" y="7030315"/>
                </a:lnTo>
                <a:lnTo>
                  <a:pt x="0" y="0"/>
                </a:lnTo>
                <a:close/>
              </a:path>
            </a:pathLst>
          </a:custGeom>
          <a:blipFill>
            <a:blip r:embed="rId2"/>
            <a:stretch>
              <a:fillRect/>
            </a:stretch>
          </a:blipFill>
        </p:spPr>
        <p:txBody>
          <a:bodyPr/>
          <a:lstStyle/>
          <a:p>
            <a:endParaRPr lang="en-SG"/>
          </a:p>
        </p:txBody>
      </p:sp>
      <p:grpSp>
        <p:nvGrpSpPr>
          <p:cNvPr id="3" name="Group 3"/>
          <p:cNvGrpSpPr/>
          <p:nvPr/>
        </p:nvGrpSpPr>
        <p:grpSpPr>
          <a:xfrm rot="5400000">
            <a:off x="7655093" y="-10411345"/>
            <a:ext cx="4044591" cy="20824751"/>
            <a:chOff x="0" y="0"/>
            <a:chExt cx="1449490" cy="7463120"/>
          </a:xfrm>
        </p:grpSpPr>
        <p:sp>
          <p:nvSpPr>
            <p:cNvPr id="4" name="Freeform 4"/>
            <p:cNvSpPr/>
            <p:nvPr/>
          </p:nvSpPr>
          <p:spPr>
            <a:xfrm>
              <a:off x="0" y="0"/>
              <a:ext cx="1449490" cy="7463120"/>
            </a:xfrm>
            <a:custGeom>
              <a:avLst/>
              <a:gdLst/>
              <a:ahLst/>
              <a:cxnLst/>
              <a:rect l="l" t="t" r="r" b="b"/>
              <a:pathLst>
                <a:path w="1449490" h="7463120">
                  <a:moveTo>
                    <a:pt x="0" y="0"/>
                  </a:moveTo>
                  <a:lnTo>
                    <a:pt x="1449490" y="0"/>
                  </a:lnTo>
                  <a:lnTo>
                    <a:pt x="1449490" y="7463120"/>
                  </a:lnTo>
                  <a:lnTo>
                    <a:pt x="0" y="7463120"/>
                  </a:lnTo>
                  <a:close/>
                </a:path>
              </a:pathLst>
            </a:custGeom>
            <a:solidFill>
              <a:srgbClr val="EFEEEC"/>
            </a:solidFill>
            <a:ln w="9525" cap="sq">
              <a:solidFill>
                <a:srgbClr val="403E3E"/>
              </a:solidFill>
              <a:prstDash val="solid"/>
              <a:miter/>
            </a:ln>
          </p:spPr>
          <p:txBody>
            <a:bodyPr/>
            <a:lstStyle/>
            <a:p>
              <a:endParaRPr lang="en-SG"/>
            </a:p>
          </p:txBody>
        </p:sp>
        <p:sp>
          <p:nvSpPr>
            <p:cNvPr id="5" name="TextBox 5"/>
            <p:cNvSpPr txBox="1"/>
            <p:nvPr/>
          </p:nvSpPr>
          <p:spPr>
            <a:xfrm>
              <a:off x="0" y="-47625"/>
              <a:ext cx="1449490" cy="7510745"/>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rot="-5400000">
            <a:off x="14695228" y="1262962"/>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SG"/>
          </a:p>
        </p:txBody>
      </p:sp>
      <p:sp>
        <p:nvSpPr>
          <p:cNvPr id="7" name="TextBox 7"/>
          <p:cNvSpPr txBox="1"/>
          <p:nvPr/>
        </p:nvSpPr>
        <p:spPr>
          <a:xfrm>
            <a:off x="268640" y="238125"/>
            <a:ext cx="15761916" cy="1581150"/>
          </a:xfrm>
          <a:prstGeom prst="rect">
            <a:avLst/>
          </a:prstGeom>
        </p:spPr>
        <p:txBody>
          <a:bodyPr lIns="0" tIns="0" rIns="0" bIns="0" rtlCol="0" anchor="t">
            <a:spAutoFit/>
          </a:bodyPr>
          <a:lstStyle/>
          <a:p>
            <a:pPr algn="l">
              <a:lnSpc>
                <a:spcPts val="7440"/>
              </a:lnSpc>
            </a:pPr>
            <a:r>
              <a:rPr lang="en-US" sz="6200" b="1">
                <a:solidFill>
                  <a:srgbClr val="000000"/>
                </a:solidFill>
                <a:latin typeface="Inter 1 Bold"/>
                <a:ea typeface="Inter 1 Bold"/>
                <a:cs typeface="Inter 1 Bold"/>
                <a:sym typeface="Inter 1 Bold"/>
              </a:rPr>
              <a:t>Descriptive Statistics: </a:t>
            </a:r>
          </a:p>
          <a:p>
            <a:pPr marL="0" lvl="0" indent="0" algn="l">
              <a:lnSpc>
                <a:spcPts val="5040"/>
              </a:lnSpc>
              <a:spcBef>
                <a:spcPct val="0"/>
              </a:spcBef>
            </a:pPr>
            <a:r>
              <a:rPr lang="en-US" sz="4200" b="1">
                <a:solidFill>
                  <a:srgbClr val="000000"/>
                </a:solidFill>
                <a:latin typeface="Inter 1 Bold"/>
                <a:ea typeface="Inter 1 Bold"/>
                <a:cs typeface="Inter 1 Bold"/>
                <a:sym typeface="Inter 1 Bold"/>
              </a:rPr>
              <a:t>Life Expectancy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6"/>
        </a:solidFill>
        <a:effectLst/>
      </p:bgPr>
    </p:bg>
    <p:spTree>
      <p:nvGrpSpPr>
        <p:cNvPr id="1" name=""/>
        <p:cNvGrpSpPr/>
        <p:nvPr/>
      </p:nvGrpSpPr>
      <p:grpSpPr>
        <a:xfrm>
          <a:off x="0" y="0"/>
          <a:ext cx="0" cy="0"/>
          <a:chOff x="0" y="0"/>
          <a:chExt cx="0" cy="0"/>
        </a:xfrm>
      </p:grpSpPr>
      <p:grpSp>
        <p:nvGrpSpPr>
          <p:cNvPr id="4" name="Group 4"/>
          <p:cNvGrpSpPr/>
          <p:nvPr/>
        </p:nvGrpSpPr>
        <p:grpSpPr>
          <a:xfrm rot="5400000">
            <a:off x="7725670" y="-11005846"/>
            <a:ext cx="4044591" cy="20824751"/>
            <a:chOff x="0" y="0"/>
            <a:chExt cx="1449490" cy="7463120"/>
          </a:xfrm>
        </p:grpSpPr>
        <p:sp>
          <p:nvSpPr>
            <p:cNvPr id="5" name="Freeform 5"/>
            <p:cNvSpPr/>
            <p:nvPr/>
          </p:nvSpPr>
          <p:spPr>
            <a:xfrm>
              <a:off x="0" y="0"/>
              <a:ext cx="1449490" cy="7463120"/>
            </a:xfrm>
            <a:custGeom>
              <a:avLst/>
              <a:gdLst/>
              <a:ahLst/>
              <a:cxnLst/>
              <a:rect l="l" t="t" r="r" b="b"/>
              <a:pathLst>
                <a:path w="1449490" h="7463120">
                  <a:moveTo>
                    <a:pt x="0" y="0"/>
                  </a:moveTo>
                  <a:lnTo>
                    <a:pt x="1449490" y="0"/>
                  </a:lnTo>
                  <a:lnTo>
                    <a:pt x="1449490" y="7463120"/>
                  </a:lnTo>
                  <a:lnTo>
                    <a:pt x="0" y="7463120"/>
                  </a:lnTo>
                  <a:close/>
                </a:path>
              </a:pathLst>
            </a:custGeom>
            <a:solidFill>
              <a:srgbClr val="EFEEEC"/>
            </a:solidFill>
            <a:ln w="9525" cap="sq">
              <a:solidFill>
                <a:srgbClr val="403E3E"/>
              </a:solidFill>
              <a:prstDash val="solid"/>
              <a:miter/>
            </a:ln>
          </p:spPr>
          <p:txBody>
            <a:bodyPr/>
            <a:lstStyle/>
            <a:p>
              <a:endParaRPr lang="en-SG"/>
            </a:p>
          </p:txBody>
        </p:sp>
        <p:sp>
          <p:nvSpPr>
            <p:cNvPr id="6" name="TextBox 6"/>
            <p:cNvSpPr txBox="1"/>
            <p:nvPr/>
          </p:nvSpPr>
          <p:spPr>
            <a:xfrm>
              <a:off x="0" y="-47625"/>
              <a:ext cx="1449490" cy="7510745"/>
            </a:xfrm>
            <a:prstGeom prst="rect">
              <a:avLst/>
            </a:prstGeom>
          </p:spPr>
          <p:txBody>
            <a:bodyPr lIns="50800" tIns="50800" rIns="50800" bIns="50800" rtlCol="0" anchor="ctr"/>
            <a:lstStyle/>
            <a:p>
              <a:pPr algn="ctr">
                <a:lnSpc>
                  <a:spcPts val="1960"/>
                </a:lnSpc>
              </a:pPr>
              <a:endParaRPr/>
            </a:p>
          </p:txBody>
        </p:sp>
      </p:grpSp>
      <p:sp>
        <p:nvSpPr>
          <p:cNvPr id="7" name="Freeform 7"/>
          <p:cNvSpPr/>
          <p:nvPr/>
        </p:nvSpPr>
        <p:spPr>
          <a:xfrm rot="-5400000">
            <a:off x="14765805" y="668461"/>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8" name="TextBox 8"/>
          <p:cNvSpPr txBox="1"/>
          <p:nvPr/>
        </p:nvSpPr>
        <p:spPr>
          <a:xfrm>
            <a:off x="453947" y="342905"/>
            <a:ext cx="15761916" cy="942975"/>
          </a:xfrm>
          <a:prstGeom prst="rect">
            <a:avLst/>
          </a:prstGeom>
        </p:spPr>
        <p:txBody>
          <a:bodyPr lIns="0" tIns="0" rIns="0" bIns="0" rtlCol="0" anchor="t">
            <a:spAutoFit/>
          </a:bodyPr>
          <a:lstStyle/>
          <a:p>
            <a:pPr marL="0" lvl="0" indent="0" algn="l">
              <a:lnSpc>
                <a:spcPts val="7440"/>
              </a:lnSpc>
              <a:spcBef>
                <a:spcPct val="0"/>
              </a:spcBef>
            </a:pPr>
            <a:r>
              <a:rPr lang="en-US" sz="6200" b="1">
                <a:solidFill>
                  <a:srgbClr val="000000"/>
                </a:solidFill>
                <a:latin typeface="Open Sans 2 Bold"/>
                <a:ea typeface="Open Sans 2 Bold"/>
                <a:cs typeface="Open Sans 2 Bold"/>
                <a:sym typeface="Open Sans 2 Bold"/>
              </a:rPr>
              <a:t>Missingness:</a:t>
            </a:r>
          </a:p>
        </p:txBody>
      </p:sp>
      <p:graphicFrame>
        <p:nvGraphicFramePr>
          <p:cNvPr id="9" name="Table 8">
            <a:extLst>
              <a:ext uri="{FF2B5EF4-FFF2-40B4-BE49-F238E27FC236}">
                <a16:creationId xmlns:a16="http://schemas.microsoft.com/office/drawing/2014/main" id="{FF2D4C63-8049-AF7B-F4C9-860A8FBB4588}"/>
              </a:ext>
            </a:extLst>
          </p:cNvPr>
          <p:cNvGraphicFramePr>
            <a:graphicFrameLocks noGrp="1"/>
          </p:cNvGraphicFramePr>
          <p:nvPr>
            <p:extLst>
              <p:ext uri="{D42A27DB-BD31-4B8C-83A1-F6EECF244321}">
                <p14:modId xmlns:p14="http://schemas.microsoft.com/office/powerpoint/2010/main" val="1320026610"/>
              </p:ext>
            </p:extLst>
          </p:nvPr>
        </p:nvGraphicFramePr>
        <p:xfrm>
          <a:off x="453947" y="2040552"/>
          <a:ext cx="8264466" cy="7890564"/>
        </p:xfrm>
        <a:graphic>
          <a:graphicData uri="http://schemas.openxmlformats.org/drawingml/2006/table">
            <a:tbl>
              <a:tblPr/>
              <a:tblGrid>
                <a:gridCol w="4132233">
                  <a:extLst>
                    <a:ext uri="{9D8B030D-6E8A-4147-A177-3AD203B41FA5}">
                      <a16:colId xmlns:a16="http://schemas.microsoft.com/office/drawing/2014/main" val="2303166903"/>
                    </a:ext>
                  </a:extLst>
                </a:gridCol>
                <a:gridCol w="4132233">
                  <a:extLst>
                    <a:ext uri="{9D8B030D-6E8A-4147-A177-3AD203B41FA5}">
                      <a16:colId xmlns:a16="http://schemas.microsoft.com/office/drawing/2014/main" val="246182914"/>
                    </a:ext>
                  </a:extLst>
                </a:gridCol>
              </a:tblGrid>
              <a:tr h="683428">
                <a:tc gridSpan="2">
                  <a:txBody>
                    <a:bodyPr/>
                    <a:lstStyle/>
                    <a:p>
                      <a:pPr>
                        <a:buNone/>
                      </a:pPr>
                      <a:r>
                        <a:rPr lang="en-SG" sz="3600" b="1" dirty="0">
                          <a:effectLst/>
                        </a:rPr>
                        <a:t>GDP per capita dataset</a:t>
                      </a:r>
                    </a:p>
                  </a:txBody>
                  <a:tcPr marL="80861" marR="80861" marT="40431" marB="40431"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hMerge="1">
                  <a:txBody>
                    <a:bodyPr/>
                    <a:lstStyle/>
                    <a:p>
                      <a:pPr>
                        <a:buNone/>
                      </a:pPr>
                      <a:endParaRPr lang="en-SG" sz="3600" b="1" dirty="0">
                        <a:effectLst/>
                      </a:endParaRPr>
                    </a:p>
                  </a:txBody>
                  <a:tcPr marL="80861" marR="80861" marT="40431" marB="40431"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12668"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7444549"/>
                  </a:ext>
                </a:extLst>
              </a:tr>
              <a:tr h="975888">
                <a:tc>
                  <a:txBody>
                    <a:bodyPr/>
                    <a:lstStyle/>
                    <a:p>
                      <a:pPr>
                        <a:buNone/>
                      </a:pPr>
                      <a:r>
                        <a:rPr lang="en-SG" sz="3600" b="1" dirty="0">
                          <a:effectLst/>
                        </a:rPr>
                        <a:t>Features </a:t>
                      </a:r>
                    </a:p>
                  </a:txBody>
                  <a:tcPr marL="80861" marR="80861" marT="40431" marB="40431"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buNone/>
                      </a:pPr>
                      <a:r>
                        <a:rPr lang="en-SG" sz="3600" b="1">
                          <a:effectLst/>
                        </a:rPr>
                        <a:t>Missingness (%)</a:t>
                      </a:r>
                    </a:p>
                  </a:txBody>
                  <a:tcPr marL="80861" marR="80861" marT="40431" marB="40431"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85141714"/>
                  </a:ext>
                </a:extLst>
              </a:tr>
              <a:tr h="1826420">
                <a:tc>
                  <a:txBody>
                    <a:bodyPr/>
                    <a:lstStyle/>
                    <a:p>
                      <a:pPr>
                        <a:buNone/>
                      </a:pPr>
                      <a:r>
                        <a:rPr lang="en-SG" sz="3600" b="1">
                          <a:effectLst/>
                        </a:rPr>
                        <a:t>900793-annotations</a:t>
                      </a:r>
                    </a:p>
                  </a:txBody>
                  <a:tcPr marL="80861" marR="80861" marT="40431" marB="40431"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9.987</a:t>
                      </a:r>
                    </a:p>
                  </a:txBody>
                  <a:tcPr marL="80861" marR="80861" marT="40431" marB="40431"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15883169"/>
                  </a:ext>
                </a:extLst>
              </a:tr>
              <a:tr h="1101207">
                <a:tc>
                  <a:txBody>
                    <a:bodyPr/>
                    <a:lstStyle/>
                    <a:p>
                      <a:pPr>
                        <a:buNone/>
                      </a:pPr>
                      <a:r>
                        <a:rPr lang="en-SG" sz="3600" b="1">
                          <a:effectLst/>
                        </a:rPr>
                        <a:t>Code</a:t>
                      </a:r>
                    </a:p>
                  </a:txBody>
                  <a:tcPr marL="80861" marR="80861" marT="40431" marB="40431"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1.26</a:t>
                      </a:r>
                    </a:p>
                  </a:txBody>
                  <a:tcPr marL="80861" marR="80861" marT="40431" marB="40431"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1967701175"/>
                  </a:ext>
                </a:extLst>
              </a:tr>
              <a:tr h="1101207">
                <a:tc>
                  <a:txBody>
                    <a:bodyPr/>
                    <a:lstStyle/>
                    <a:p>
                      <a:pPr>
                        <a:buNone/>
                      </a:pPr>
                      <a:r>
                        <a:rPr lang="en-SG" sz="3600" b="1">
                          <a:effectLst/>
                        </a:rPr>
                        <a:t>Entity</a:t>
                      </a:r>
                    </a:p>
                  </a:txBody>
                  <a:tcPr marL="80861" marR="80861" marT="40431" marB="40431"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80861" marR="80861" marT="40431" marB="40431"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604691151"/>
                  </a:ext>
                </a:extLst>
              </a:tr>
              <a:tr h="1101207">
                <a:tc>
                  <a:txBody>
                    <a:bodyPr/>
                    <a:lstStyle/>
                    <a:p>
                      <a:pPr>
                        <a:buNone/>
                      </a:pPr>
                      <a:r>
                        <a:rPr lang="en-SG" sz="3600" b="1">
                          <a:effectLst/>
                        </a:rPr>
                        <a:t>Year</a:t>
                      </a:r>
                    </a:p>
                  </a:txBody>
                  <a:tcPr marL="80861" marR="80861" marT="40431" marB="40431"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80861" marR="80861" marT="40431" marB="40431"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852842336"/>
                  </a:ext>
                </a:extLst>
              </a:tr>
              <a:tr h="1101207">
                <a:tc>
                  <a:txBody>
                    <a:bodyPr/>
                    <a:lstStyle/>
                    <a:p>
                      <a:pPr>
                        <a:buNone/>
                      </a:pPr>
                      <a:r>
                        <a:rPr lang="en-SG" sz="3600" b="1">
                          <a:effectLst/>
                        </a:rPr>
                        <a:t>GDP per Capita</a:t>
                      </a:r>
                    </a:p>
                  </a:txBody>
                  <a:tcPr marL="80861" marR="80861" marT="40431" marB="40431"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tc>
                  <a:txBody>
                    <a:bodyPr/>
                    <a:lstStyle/>
                    <a:p>
                      <a:pPr>
                        <a:buNone/>
                      </a:pPr>
                      <a:r>
                        <a:rPr lang="en-SG" sz="3600" dirty="0">
                          <a:effectLst/>
                        </a:rPr>
                        <a:t>0</a:t>
                      </a:r>
                    </a:p>
                  </a:txBody>
                  <a:tcPr marL="80861" marR="80861" marT="40431" marB="40431"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45303158"/>
                  </a:ext>
                </a:extLst>
              </a:tr>
            </a:tbl>
          </a:graphicData>
        </a:graphic>
      </p:graphicFrame>
      <p:sp>
        <p:nvSpPr>
          <p:cNvPr id="10" name="Rectangle 1">
            <a:extLst>
              <a:ext uri="{FF2B5EF4-FFF2-40B4-BE49-F238E27FC236}">
                <a16:creationId xmlns:a16="http://schemas.microsoft.com/office/drawing/2014/main" id="{F5194436-F212-7F13-5424-CB9544D24059}"/>
              </a:ext>
            </a:extLst>
          </p:cNvPr>
          <p:cNvSpPr>
            <a:spLocks noChangeArrowheads="1"/>
          </p:cNvSpPr>
          <p:nvPr/>
        </p:nvSpPr>
        <p:spPr bwMode="auto">
          <a:xfrm>
            <a:off x="1004027" y="1638299"/>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G"/>
          </a:p>
        </p:txBody>
      </p:sp>
      <p:graphicFrame>
        <p:nvGraphicFramePr>
          <p:cNvPr id="11" name="Table 10">
            <a:extLst>
              <a:ext uri="{FF2B5EF4-FFF2-40B4-BE49-F238E27FC236}">
                <a16:creationId xmlns:a16="http://schemas.microsoft.com/office/drawing/2014/main" id="{9A21FCA3-C06D-529A-40F3-1E6A718F7446}"/>
              </a:ext>
            </a:extLst>
          </p:cNvPr>
          <p:cNvGraphicFramePr>
            <a:graphicFrameLocks noGrp="1"/>
          </p:cNvGraphicFramePr>
          <p:nvPr>
            <p:extLst>
              <p:ext uri="{D42A27DB-BD31-4B8C-83A1-F6EECF244321}">
                <p14:modId xmlns:p14="http://schemas.microsoft.com/office/powerpoint/2010/main" val="627500990"/>
              </p:ext>
            </p:extLst>
          </p:nvPr>
        </p:nvGraphicFramePr>
        <p:xfrm>
          <a:off x="9448800" y="2040553"/>
          <a:ext cx="8610598" cy="7903548"/>
        </p:xfrm>
        <a:graphic>
          <a:graphicData uri="http://schemas.openxmlformats.org/drawingml/2006/table">
            <a:tbl>
              <a:tblPr/>
              <a:tblGrid>
                <a:gridCol w="4305299">
                  <a:extLst>
                    <a:ext uri="{9D8B030D-6E8A-4147-A177-3AD203B41FA5}">
                      <a16:colId xmlns:a16="http://schemas.microsoft.com/office/drawing/2014/main" val="481458310"/>
                    </a:ext>
                  </a:extLst>
                </a:gridCol>
                <a:gridCol w="4305299">
                  <a:extLst>
                    <a:ext uri="{9D8B030D-6E8A-4147-A177-3AD203B41FA5}">
                      <a16:colId xmlns:a16="http://schemas.microsoft.com/office/drawing/2014/main" val="3337086598"/>
                    </a:ext>
                  </a:extLst>
                </a:gridCol>
              </a:tblGrid>
              <a:tr h="658629">
                <a:tc gridSpan="2">
                  <a:txBody>
                    <a:bodyPr/>
                    <a:lstStyle/>
                    <a:p>
                      <a:pPr>
                        <a:buNone/>
                      </a:pPr>
                      <a:r>
                        <a:rPr lang="en-SG" sz="3600" b="1" dirty="0">
                          <a:effectLst/>
                        </a:rPr>
                        <a:t>Life Expectancy Dataset</a:t>
                      </a:r>
                    </a:p>
                  </a:txBody>
                  <a:tcPr marL="54860" marR="54860" marT="27430" marB="2743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hMerge="1">
                  <a:txBody>
                    <a:bodyPr/>
                    <a:lstStyle/>
                    <a:p>
                      <a:pPr>
                        <a:buNone/>
                      </a:pPr>
                      <a:endParaRPr lang="en-SG" sz="3600" b="1" dirty="0">
                        <a:effectLst/>
                      </a:endParaRPr>
                    </a:p>
                  </a:txBody>
                  <a:tcPr marL="54860" marR="54860" marT="27430" marB="2743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12668"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87162868"/>
                  </a:ext>
                </a:extLst>
              </a:tr>
              <a:tr h="658629">
                <a:tc>
                  <a:txBody>
                    <a:bodyPr/>
                    <a:lstStyle/>
                    <a:p>
                      <a:pPr>
                        <a:buNone/>
                      </a:pPr>
                      <a:r>
                        <a:rPr lang="en-SG" sz="3600" b="1" dirty="0">
                          <a:effectLst/>
                        </a:rPr>
                        <a:t>Features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buNone/>
                      </a:pPr>
                      <a:r>
                        <a:rPr lang="en-SG" sz="3600" b="1" dirty="0">
                          <a:effectLst/>
                        </a:rPr>
                        <a:t>Missingness (%)</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45339451"/>
                  </a:ext>
                </a:extLst>
              </a:tr>
              <a:tr h="658629">
                <a:tc>
                  <a:txBody>
                    <a:bodyPr/>
                    <a:lstStyle/>
                    <a:p>
                      <a:pPr>
                        <a:buNone/>
                      </a:pPr>
                      <a:r>
                        <a:rPr lang="en-SG" sz="3600" dirty="0">
                          <a:effectLst/>
                        </a:rPr>
                        <a:t>Code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9.3</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553802490"/>
                  </a:ext>
                </a:extLst>
              </a:tr>
              <a:tr h="658629">
                <a:tc>
                  <a:txBody>
                    <a:bodyPr/>
                    <a:lstStyle/>
                    <a:p>
                      <a:pPr>
                        <a:buNone/>
                      </a:pPr>
                      <a:r>
                        <a:rPr lang="en-SG" sz="3600" dirty="0">
                          <a:effectLst/>
                        </a:rPr>
                        <a:t>Entity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902992680"/>
                  </a:ext>
                </a:extLst>
              </a:tr>
              <a:tr h="658629">
                <a:tc>
                  <a:txBody>
                    <a:bodyPr/>
                    <a:lstStyle/>
                    <a:p>
                      <a:pPr>
                        <a:buNone/>
                      </a:pPr>
                      <a:r>
                        <a:rPr lang="en-SG" sz="3600">
                          <a:effectLst/>
                        </a:rPr>
                        <a:t>Year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694385187"/>
                  </a:ext>
                </a:extLst>
              </a:tr>
              <a:tr h="658629">
                <a:tc>
                  <a:txBody>
                    <a:bodyPr/>
                    <a:lstStyle/>
                    <a:p>
                      <a:pPr>
                        <a:buNone/>
                      </a:pPr>
                      <a:r>
                        <a:rPr lang="en-SG" sz="3600">
                          <a:effectLst/>
                        </a:rPr>
                        <a:t>Age: 0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1490435918"/>
                  </a:ext>
                </a:extLst>
              </a:tr>
              <a:tr h="658629">
                <a:tc>
                  <a:txBody>
                    <a:bodyPr/>
                    <a:lstStyle/>
                    <a:p>
                      <a:pPr>
                        <a:buNone/>
                      </a:pPr>
                      <a:r>
                        <a:rPr lang="en-SG" sz="3600">
                          <a:effectLst/>
                        </a:rPr>
                        <a:t>Age: 10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1043431427"/>
                  </a:ext>
                </a:extLst>
              </a:tr>
              <a:tr h="658629">
                <a:tc>
                  <a:txBody>
                    <a:bodyPr/>
                    <a:lstStyle/>
                    <a:p>
                      <a:pPr>
                        <a:buNone/>
                      </a:pPr>
                      <a:r>
                        <a:rPr lang="en-SG" sz="3600">
                          <a:effectLst/>
                        </a:rPr>
                        <a:t>Age: 15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448480336"/>
                  </a:ext>
                </a:extLst>
              </a:tr>
              <a:tr h="658629">
                <a:tc>
                  <a:txBody>
                    <a:bodyPr/>
                    <a:lstStyle/>
                    <a:p>
                      <a:pPr>
                        <a:buNone/>
                      </a:pPr>
                      <a:r>
                        <a:rPr lang="en-SG" sz="3600">
                          <a:effectLst/>
                        </a:rPr>
                        <a:t>Age: 25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892656823"/>
                  </a:ext>
                </a:extLst>
              </a:tr>
              <a:tr h="658629">
                <a:tc>
                  <a:txBody>
                    <a:bodyPr/>
                    <a:lstStyle/>
                    <a:p>
                      <a:pPr>
                        <a:buNone/>
                      </a:pPr>
                      <a:r>
                        <a:rPr lang="en-SG" sz="3600" dirty="0">
                          <a:effectLst/>
                        </a:rPr>
                        <a:t>Age: 45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1922344139"/>
                  </a:ext>
                </a:extLst>
              </a:tr>
              <a:tr h="658629">
                <a:tc>
                  <a:txBody>
                    <a:bodyPr/>
                    <a:lstStyle/>
                    <a:p>
                      <a:pPr>
                        <a:buNone/>
                      </a:pPr>
                      <a:r>
                        <a:rPr lang="en-SG" sz="3600">
                          <a:effectLst/>
                        </a:rPr>
                        <a:t>Age: 65</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12668"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3128791810"/>
                  </a:ext>
                </a:extLst>
              </a:tr>
              <a:tr h="658629">
                <a:tc>
                  <a:txBody>
                    <a:bodyPr/>
                    <a:lstStyle/>
                    <a:p>
                      <a:pPr>
                        <a:buNone/>
                      </a:pPr>
                      <a:r>
                        <a:rPr lang="en-SG" sz="3600" dirty="0">
                          <a:effectLst/>
                        </a:rPr>
                        <a:t>Age: 80 </a:t>
                      </a:r>
                    </a:p>
                  </a:txBody>
                  <a:tcPr marL="54860" marR="54860" marT="27430" marB="27430" anchor="ctr">
                    <a:lnL w="38100" cap="flat" cmpd="sng" algn="ctr">
                      <a:solidFill>
                        <a:schemeClr val="tx1"/>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tc>
                  <a:txBody>
                    <a:bodyPr/>
                    <a:lstStyle/>
                    <a:p>
                      <a:pPr>
                        <a:buNone/>
                      </a:pPr>
                      <a:r>
                        <a:rPr lang="en-SG" sz="3600" dirty="0">
                          <a:effectLst/>
                        </a:rPr>
                        <a:t>0</a:t>
                      </a:r>
                    </a:p>
                  </a:txBody>
                  <a:tcPr marL="54860" marR="54860" marT="27430" marB="27430" anchor="ctr">
                    <a:lnL w="12668"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668" cap="flat" cmpd="sng" algn="ctr">
                      <a:solidFill>
                        <a:srgbClr val="00000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6984665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655093" y="-10906269"/>
            <a:ext cx="4044591" cy="20824751"/>
            <a:chOff x="0" y="0"/>
            <a:chExt cx="1449490" cy="7463120"/>
          </a:xfrm>
        </p:grpSpPr>
        <p:sp>
          <p:nvSpPr>
            <p:cNvPr id="3" name="Freeform 3"/>
            <p:cNvSpPr/>
            <p:nvPr/>
          </p:nvSpPr>
          <p:spPr>
            <a:xfrm>
              <a:off x="0" y="0"/>
              <a:ext cx="1449490" cy="7463120"/>
            </a:xfrm>
            <a:custGeom>
              <a:avLst/>
              <a:gdLst/>
              <a:ahLst/>
              <a:cxnLst/>
              <a:rect l="l" t="t" r="r" b="b"/>
              <a:pathLst>
                <a:path w="1449490" h="7463120">
                  <a:moveTo>
                    <a:pt x="0" y="0"/>
                  </a:moveTo>
                  <a:lnTo>
                    <a:pt x="1449490" y="0"/>
                  </a:lnTo>
                  <a:lnTo>
                    <a:pt x="1449490" y="7463120"/>
                  </a:lnTo>
                  <a:lnTo>
                    <a:pt x="0" y="7463120"/>
                  </a:lnTo>
                  <a:close/>
                </a:path>
              </a:pathLst>
            </a:custGeom>
            <a:solidFill>
              <a:srgbClr val="EFEEEC"/>
            </a:solidFill>
            <a:ln w="9525" cap="sq">
              <a:solidFill>
                <a:srgbClr val="403E3E"/>
              </a:solidFill>
              <a:prstDash val="solid"/>
              <a:miter/>
            </a:ln>
          </p:spPr>
          <p:txBody>
            <a:bodyPr/>
            <a:lstStyle/>
            <a:p>
              <a:endParaRPr lang="en-SG"/>
            </a:p>
          </p:txBody>
        </p:sp>
        <p:sp>
          <p:nvSpPr>
            <p:cNvPr id="4" name="TextBox 4"/>
            <p:cNvSpPr txBox="1"/>
            <p:nvPr/>
          </p:nvSpPr>
          <p:spPr>
            <a:xfrm>
              <a:off x="0" y="-47625"/>
              <a:ext cx="1449490" cy="751074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rot="-5400000">
            <a:off x="14695228" y="768039"/>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6" name="TextBox 6"/>
          <p:cNvSpPr txBox="1"/>
          <p:nvPr/>
        </p:nvSpPr>
        <p:spPr>
          <a:xfrm>
            <a:off x="15727959" y="476754"/>
            <a:ext cx="1770757"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403E3E"/>
                </a:solidFill>
                <a:latin typeface="Inter 2 Italics"/>
                <a:ea typeface="Inter 2 Italics"/>
                <a:cs typeface="Inter 2 Italics"/>
                <a:sym typeface="Inter 2 Italics"/>
              </a:rPr>
              <a:t>PREPROCESSING</a:t>
            </a:r>
          </a:p>
        </p:txBody>
      </p:sp>
      <p:sp>
        <p:nvSpPr>
          <p:cNvPr id="7" name="TextBox 7"/>
          <p:cNvSpPr txBox="1"/>
          <p:nvPr/>
        </p:nvSpPr>
        <p:spPr>
          <a:xfrm>
            <a:off x="417953" y="539937"/>
            <a:ext cx="13073464" cy="668020"/>
          </a:xfrm>
          <a:prstGeom prst="rect">
            <a:avLst/>
          </a:prstGeom>
        </p:spPr>
        <p:txBody>
          <a:bodyPr lIns="0" tIns="0" rIns="0" bIns="0" rtlCol="0" anchor="t">
            <a:spAutoFit/>
          </a:bodyPr>
          <a:lstStyle/>
          <a:p>
            <a:pPr marL="0" lvl="0" indent="0" algn="l">
              <a:lnSpc>
                <a:spcPts val="4760"/>
              </a:lnSpc>
              <a:spcBef>
                <a:spcPct val="0"/>
              </a:spcBef>
            </a:pPr>
            <a:r>
              <a:rPr lang="en-US" sz="5600" b="1" spc="-420">
                <a:solidFill>
                  <a:srgbClr val="000000"/>
                </a:solidFill>
                <a:latin typeface="Inter 2 Bold"/>
                <a:ea typeface="Inter 2 Bold"/>
                <a:cs typeface="Inter 2 Bold"/>
                <a:sym typeface="Inter 2 Bold"/>
              </a:rPr>
              <a:t>Merging Data Sets</a:t>
            </a:r>
          </a:p>
        </p:txBody>
      </p:sp>
      <p:sp>
        <p:nvSpPr>
          <p:cNvPr id="8" name="TextBox 8"/>
          <p:cNvSpPr txBox="1"/>
          <p:nvPr/>
        </p:nvSpPr>
        <p:spPr>
          <a:xfrm>
            <a:off x="1028700" y="3161904"/>
            <a:ext cx="6358698"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CONSISTENT MATCHING</a:t>
            </a:r>
          </a:p>
        </p:txBody>
      </p:sp>
      <p:sp>
        <p:nvSpPr>
          <p:cNvPr id="9" name="TextBox 9"/>
          <p:cNvSpPr txBox="1"/>
          <p:nvPr/>
        </p:nvSpPr>
        <p:spPr>
          <a:xfrm>
            <a:off x="1028700" y="4622314"/>
            <a:ext cx="7574838" cy="3462527"/>
          </a:xfrm>
          <a:prstGeom prst="rect">
            <a:avLst/>
          </a:prstGeom>
        </p:spPr>
        <p:txBody>
          <a:bodyPr lIns="0" tIns="0" rIns="0" bIns="0" rtlCol="0" anchor="t">
            <a:spAutoFit/>
          </a:bodyPr>
          <a:lstStyle/>
          <a:p>
            <a:pPr algn="l">
              <a:lnSpc>
                <a:spcPts val="3927"/>
              </a:lnSpc>
            </a:pPr>
            <a:r>
              <a:rPr lang="en-US" sz="2805" u="none" strike="noStrike" spc="-61">
                <a:solidFill>
                  <a:srgbClr val="000000"/>
                </a:solidFill>
                <a:latin typeface="Inter 2"/>
                <a:ea typeface="Inter 2"/>
                <a:cs typeface="Inter 2"/>
                <a:sym typeface="Inter 2"/>
              </a:rPr>
              <a:t>An inner join on Entity, Code, and Year was applied to retain only observations that appear in both datasets.</a:t>
            </a:r>
          </a:p>
          <a:p>
            <a:pPr algn="l">
              <a:lnSpc>
                <a:spcPts val="3927"/>
              </a:lnSpc>
            </a:pPr>
            <a:endParaRPr lang="en-US" sz="2805" u="none" strike="noStrike" spc="-61">
              <a:solidFill>
                <a:srgbClr val="000000"/>
              </a:solidFill>
              <a:latin typeface="Inter 2"/>
              <a:ea typeface="Inter 2"/>
              <a:cs typeface="Inter 2"/>
              <a:sym typeface="Inter 2"/>
            </a:endParaRPr>
          </a:p>
          <a:p>
            <a:pPr algn="l">
              <a:lnSpc>
                <a:spcPts val="3927"/>
              </a:lnSpc>
            </a:pPr>
            <a:r>
              <a:rPr lang="en-US" sz="2805" u="none" strike="noStrike" spc="-61">
                <a:solidFill>
                  <a:srgbClr val="000000"/>
                </a:solidFill>
                <a:latin typeface="Inter 2"/>
                <a:ea typeface="Inter 2"/>
                <a:cs typeface="Inter 2"/>
                <a:sym typeface="Inter 2"/>
              </a:rPr>
              <a:t>This prevents artificial gaps that would occur if unmatched country–year entries were kept.</a:t>
            </a:r>
          </a:p>
          <a:p>
            <a:pPr algn="l">
              <a:lnSpc>
                <a:spcPts val="3927"/>
              </a:lnSpc>
            </a:pPr>
            <a:endParaRPr lang="en-US" sz="2805" u="none" strike="noStrike" spc="-61">
              <a:solidFill>
                <a:srgbClr val="000000"/>
              </a:solidFill>
              <a:latin typeface="Inter 2"/>
              <a:ea typeface="Inter 2"/>
              <a:cs typeface="Inter 2"/>
              <a:sym typeface="Inter 2"/>
            </a:endParaRPr>
          </a:p>
        </p:txBody>
      </p:sp>
      <p:sp>
        <p:nvSpPr>
          <p:cNvPr id="10" name="TextBox 10"/>
          <p:cNvSpPr txBox="1"/>
          <p:nvPr/>
        </p:nvSpPr>
        <p:spPr>
          <a:xfrm>
            <a:off x="9144000" y="3161904"/>
            <a:ext cx="8630356"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CLEAN ALIGNED PANEL STRUCTURE</a:t>
            </a:r>
          </a:p>
        </p:txBody>
      </p:sp>
      <p:sp>
        <p:nvSpPr>
          <p:cNvPr id="11" name="TextBox 11"/>
          <p:cNvSpPr txBox="1"/>
          <p:nvPr/>
        </p:nvSpPr>
        <p:spPr>
          <a:xfrm>
            <a:off x="9144000" y="4622314"/>
            <a:ext cx="7469337" cy="3957827"/>
          </a:xfrm>
          <a:prstGeom prst="rect">
            <a:avLst/>
          </a:prstGeom>
        </p:spPr>
        <p:txBody>
          <a:bodyPr lIns="0" tIns="0" rIns="0" bIns="0" rtlCol="0" anchor="t">
            <a:spAutoFit/>
          </a:bodyPr>
          <a:lstStyle/>
          <a:p>
            <a:pPr algn="l">
              <a:lnSpc>
                <a:spcPts val="3927"/>
              </a:lnSpc>
            </a:pPr>
            <a:r>
              <a:rPr lang="en-US" sz="2805" spc="-61">
                <a:solidFill>
                  <a:srgbClr val="000000"/>
                </a:solidFill>
                <a:latin typeface="Inter 2"/>
                <a:ea typeface="Inter 2"/>
                <a:cs typeface="Inter 2"/>
                <a:sym typeface="Inter 2"/>
              </a:rPr>
              <a:t>The</a:t>
            </a:r>
            <a:r>
              <a:rPr lang="en-US" sz="2805" u="none" strike="noStrike" spc="-61">
                <a:solidFill>
                  <a:srgbClr val="000000"/>
                </a:solidFill>
                <a:latin typeface="Inter 2"/>
                <a:ea typeface="Inter 2"/>
                <a:cs typeface="Inter 2"/>
                <a:sym typeface="Inter 2"/>
              </a:rPr>
              <a:t> resulting dataset contains coherent country–year rows where GDP per capita and all life-expectancy measures refer to the same observation.</a:t>
            </a:r>
          </a:p>
          <a:p>
            <a:pPr algn="l">
              <a:lnSpc>
                <a:spcPts val="3927"/>
              </a:lnSpc>
            </a:pPr>
            <a:endParaRPr lang="en-US" sz="2805" u="none" strike="noStrike" spc="-61">
              <a:solidFill>
                <a:srgbClr val="000000"/>
              </a:solidFill>
              <a:latin typeface="Inter 2"/>
              <a:ea typeface="Inter 2"/>
              <a:cs typeface="Inter 2"/>
              <a:sym typeface="Inter 2"/>
            </a:endParaRPr>
          </a:p>
          <a:p>
            <a:pPr algn="l">
              <a:lnSpc>
                <a:spcPts val="3927"/>
              </a:lnSpc>
            </a:pPr>
            <a:r>
              <a:rPr lang="en-US" sz="2805" u="none" strike="noStrike" spc="-61">
                <a:solidFill>
                  <a:srgbClr val="000000"/>
                </a:solidFill>
                <a:latin typeface="Inter 2"/>
                <a:ea typeface="Inter 2"/>
                <a:cs typeface="Inter 2"/>
                <a:sym typeface="Inter 2"/>
              </a:rPr>
              <a:t>This alignment ensures comparability and reliability for subsequent analysis.</a:t>
            </a:r>
          </a:p>
          <a:p>
            <a:pPr algn="l">
              <a:lnSpc>
                <a:spcPts val="3927"/>
              </a:lnSpc>
            </a:pPr>
            <a:endParaRPr lang="en-US" sz="2805" u="none" strike="noStrike" spc="-61">
              <a:solidFill>
                <a:srgbClr val="000000"/>
              </a:solidFill>
              <a:latin typeface="Inter 2"/>
              <a:ea typeface="Inter 2"/>
              <a:cs typeface="Inter 2"/>
              <a:sym typeface="Inter 2"/>
            </a:endParaRPr>
          </a:p>
        </p:txBody>
      </p:sp>
      <p:sp>
        <p:nvSpPr>
          <p:cNvPr id="12" name="AutoShape 12"/>
          <p:cNvSpPr/>
          <p:nvPr/>
        </p:nvSpPr>
        <p:spPr>
          <a:xfrm flipV="1">
            <a:off x="1028700" y="4288939"/>
            <a:ext cx="16425721" cy="0"/>
          </a:xfrm>
          <a:prstGeom prst="line">
            <a:avLst/>
          </a:prstGeom>
          <a:ln w="19050" cap="flat">
            <a:solidFill>
              <a:srgbClr val="000000"/>
            </a:solidFill>
            <a:prstDash val="sysDot"/>
            <a:headEnd type="none" w="sm" len="sm"/>
            <a:tailEnd type="none" w="sm" len="sm"/>
          </a:ln>
        </p:spPr>
        <p:txBody>
          <a:bodyPr/>
          <a:lstStyle/>
          <a:p>
            <a:endParaRPr lang="en-S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655093" y="-10906269"/>
            <a:ext cx="4044591" cy="20824751"/>
            <a:chOff x="0" y="0"/>
            <a:chExt cx="1449490" cy="7463120"/>
          </a:xfrm>
        </p:grpSpPr>
        <p:sp>
          <p:nvSpPr>
            <p:cNvPr id="3" name="Freeform 3"/>
            <p:cNvSpPr/>
            <p:nvPr/>
          </p:nvSpPr>
          <p:spPr>
            <a:xfrm>
              <a:off x="0" y="0"/>
              <a:ext cx="1449490" cy="7463120"/>
            </a:xfrm>
            <a:custGeom>
              <a:avLst/>
              <a:gdLst/>
              <a:ahLst/>
              <a:cxnLst/>
              <a:rect l="l" t="t" r="r" b="b"/>
              <a:pathLst>
                <a:path w="1449490" h="7463120">
                  <a:moveTo>
                    <a:pt x="0" y="0"/>
                  </a:moveTo>
                  <a:lnTo>
                    <a:pt x="1449490" y="0"/>
                  </a:lnTo>
                  <a:lnTo>
                    <a:pt x="1449490" y="7463120"/>
                  </a:lnTo>
                  <a:lnTo>
                    <a:pt x="0" y="7463120"/>
                  </a:lnTo>
                  <a:close/>
                </a:path>
              </a:pathLst>
            </a:custGeom>
            <a:solidFill>
              <a:srgbClr val="EFEEEC"/>
            </a:solidFill>
            <a:ln w="9525" cap="sq">
              <a:solidFill>
                <a:srgbClr val="403E3E"/>
              </a:solidFill>
              <a:prstDash val="solid"/>
              <a:miter/>
            </a:ln>
          </p:spPr>
          <p:txBody>
            <a:bodyPr/>
            <a:lstStyle/>
            <a:p>
              <a:endParaRPr lang="en-SG"/>
            </a:p>
          </p:txBody>
        </p:sp>
        <p:sp>
          <p:nvSpPr>
            <p:cNvPr id="4" name="TextBox 4"/>
            <p:cNvSpPr txBox="1"/>
            <p:nvPr/>
          </p:nvSpPr>
          <p:spPr>
            <a:xfrm>
              <a:off x="0" y="-47625"/>
              <a:ext cx="1449490" cy="751074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rot="-5400000">
            <a:off x="14695228" y="768039"/>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6" name="TextBox 6"/>
          <p:cNvSpPr txBox="1"/>
          <p:nvPr/>
        </p:nvSpPr>
        <p:spPr>
          <a:xfrm>
            <a:off x="15727959" y="476754"/>
            <a:ext cx="1770757"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403E3E"/>
                </a:solidFill>
                <a:latin typeface="Inter 2 Italics"/>
                <a:ea typeface="Inter 2 Italics"/>
                <a:cs typeface="Inter 2 Italics"/>
                <a:sym typeface="Inter 2 Italics"/>
              </a:rPr>
              <a:t>PREPROCESSING</a:t>
            </a:r>
          </a:p>
        </p:txBody>
      </p:sp>
      <p:sp>
        <p:nvSpPr>
          <p:cNvPr id="7" name="TextBox 7"/>
          <p:cNvSpPr txBox="1"/>
          <p:nvPr/>
        </p:nvSpPr>
        <p:spPr>
          <a:xfrm>
            <a:off x="417953" y="539937"/>
            <a:ext cx="13073464" cy="668020"/>
          </a:xfrm>
          <a:prstGeom prst="rect">
            <a:avLst/>
          </a:prstGeom>
        </p:spPr>
        <p:txBody>
          <a:bodyPr lIns="0" tIns="0" rIns="0" bIns="0" rtlCol="0" anchor="t">
            <a:spAutoFit/>
          </a:bodyPr>
          <a:lstStyle/>
          <a:p>
            <a:pPr marL="0" lvl="0" indent="0" algn="l">
              <a:lnSpc>
                <a:spcPts val="4760"/>
              </a:lnSpc>
              <a:spcBef>
                <a:spcPct val="0"/>
              </a:spcBef>
            </a:pPr>
            <a:r>
              <a:rPr lang="en-US" sz="5600" b="1" spc="-420">
                <a:solidFill>
                  <a:srgbClr val="000000"/>
                </a:solidFill>
                <a:latin typeface="Inter 2 Bold"/>
                <a:ea typeface="Inter 2 Bold"/>
                <a:cs typeface="Inter 2 Bold"/>
                <a:sym typeface="Inter 2 Bold"/>
              </a:rPr>
              <a:t>Cleaning and Transformation</a:t>
            </a:r>
          </a:p>
        </p:txBody>
      </p:sp>
      <p:sp>
        <p:nvSpPr>
          <p:cNvPr id="8" name="TextBox 8"/>
          <p:cNvSpPr txBox="1"/>
          <p:nvPr/>
        </p:nvSpPr>
        <p:spPr>
          <a:xfrm>
            <a:off x="1028700" y="3161904"/>
            <a:ext cx="4752474"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STANDARDISATION </a:t>
            </a:r>
          </a:p>
        </p:txBody>
      </p:sp>
      <p:sp>
        <p:nvSpPr>
          <p:cNvPr id="9" name="TextBox 9"/>
          <p:cNvSpPr txBox="1"/>
          <p:nvPr/>
        </p:nvSpPr>
        <p:spPr>
          <a:xfrm>
            <a:off x="1030096" y="4805173"/>
            <a:ext cx="4752474" cy="4453127"/>
          </a:xfrm>
          <a:prstGeom prst="rect">
            <a:avLst/>
          </a:prstGeom>
        </p:spPr>
        <p:txBody>
          <a:bodyPr lIns="0" tIns="0" rIns="0" bIns="0" rtlCol="0" anchor="t">
            <a:spAutoFit/>
          </a:bodyPr>
          <a:lstStyle/>
          <a:p>
            <a:pPr algn="l">
              <a:lnSpc>
                <a:spcPts val="3927"/>
              </a:lnSpc>
            </a:pPr>
            <a:r>
              <a:rPr lang="en-US" sz="2805" spc="-61">
                <a:solidFill>
                  <a:srgbClr val="000000"/>
                </a:solidFill>
                <a:latin typeface="Inter 2"/>
                <a:ea typeface="Inter 2"/>
                <a:cs typeface="Inter 2"/>
                <a:sym typeface="Inter 2"/>
              </a:rPr>
              <a:t>L</a:t>
            </a:r>
            <a:r>
              <a:rPr lang="en-US" sz="2805" u="none" strike="noStrike" spc="-61">
                <a:solidFill>
                  <a:srgbClr val="000000"/>
                </a:solidFill>
                <a:latin typeface="Inter 2"/>
                <a:ea typeface="Inter 2"/>
                <a:cs typeface="Inter 2"/>
                <a:sym typeface="Inter 2"/>
              </a:rPr>
              <a:t>ong descriptive labels (e.g., “Life expectancy – Sex: total – Age: 0 – Type: period”) were shortened to clear codes like LE_0, LE_10, … LE_80, and GDP per capita was renamed to GDP_pc to simplify coding and interpretation.</a:t>
            </a:r>
          </a:p>
        </p:txBody>
      </p:sp>
      <p:sp>
        <p:nvSpPr>
          <p:cNvPr id="10" name="TextBox 10"/>
          <p:cNvSpPr txBox="1"/>
          <p:nvPr/>
        </p:nvSpPr>
        <p:spPr>
          <a:xfrm>
            <a:off x="6887471" y="3161904"/>
            <a:ext cx="4752474"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HARMONISING DATA</a:t>
            </a:r>
          </a:p>
        </p:txBody>
      </p:sp>
      <p:sp>
        <p:nvSpPr>
          <p:cNvPr id="11" name="TextBox 11"/>
          <p:cNvSpPr txBox="1"/>
          <p:nvPr/>
        </p:nvSpPr>
        <p:spPr>
          <a:xfrm>
            <a:off x="6887471" y="4805173"/>
            <a:ext cx="4752474" cy="3462527"/>
          </a:xfrm>
          <a:prstGeom prst="rect">
            <a:avLst/>
          </a:prstGeom>
        </p:spPr>
        <p:txBody>
          <a:bodyPr lIns="0" tIns="0" rIns="0" bIns="0" rtlCol="0" anchor="t">
            <a:spAutoFit/>
          </a:bodyPr>
          <a:lstStyle/>
          <a:p>
            <a:pPr marL="0" lvl="0" indent="0" algn="l">
              <a:lnSpc>
                <a:spcPts val="3927"/>
              </a:lnSpc>
              <a:spcBef>
                <a:spcPct val="0"/>
              </a:spcBef>
            </a:pPr>
            <a:r>
              <a:rPr lang="en-US" sz="2805" spc="-61">
                <a:solidFill>
                  <a:srgbClr val="000000"/>
                </a:solidFill>
                <a:latin typeface="Inter 2"/>
                <a:ea typeface="Inter 2"/>
                <a:cs typeface="Inter 2"/>
                <a:sym typeface="Inter 2"/>
              </a:rPr>
              <a:t>The Ye</a:t>
            </a:r>
            <a:r>
              <a:rPr lang="en-US" sz="2805" u="none" strike="noStrike" spc="-61">
                <a:solidFill>
                  <a:srgbClr val="000000"/>
                </a:solidFill>
                <a:latin typeface="Inter 2"/>
                <a:ea typeface="Inter 2"/>
                <a:cs typeface="Inter 2"/>
                <a:sym typeface="Inter 2"/>
              </a:rPr>
              <a:t>ar variable was cast to integer, and all numeric fields were converted to proper numeric types, with invalid entries coerced to missing to prevent processing errors</a:t>
            </a:r>
          </a:p>
        </p:txBody>
      </p:sp>
      <p:sp>
        <p:nvSpPr>
          <p:cNvPr id="12" name="TextBox 12"/>
          <p:cNvSpPr txBox="1"/>
          <p:nvPr/>
        </p:nvSpPr>
        <p:spPr>
          <a:xfrm>
            <a:off x="12746241" y="3161904"/>
            <a:ext cx="4752474"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NON ESSENTIAL </a:t>
            </a:r>
          </a:p>
        </p:txBody>
      </p:sp>
      <p:sp>
        <p:nvSpPr>
          <p:cNvPr id="13" name="TextBox 13"/>
          <p:cNvSpPr txBox="1"/>
          <p:nvPr/>
        </p:nvSpPr>
        <p:spPr>
          <a:xfrm>
            <a:off x="12746241" y="4805173"/>
            <a:ext cx="4752474" cy="3462527"/>
          </a:xfrm>
          <a:prstGeom prst="rect">
            <a:avLst/>
          </a:prstGeom>
        </p:spPr>
        <p:txBody>
          <a:bodyPr lIns="0" tIns="0" rIns="0" bIns="0" rtlCol="0" anchor="t">
            <a:spAutoFit/>
          </a:bodyPr>
          <a:lstStyle/>
          <a:p>
            <a:pPr marL="0" lvl="0" indent="0" algn="l">
              <a:lnSpc>
                <a:spcPts val="3927"/>
              </a:lnSpc>
              <a:spcBef>
                <a:spcPct val="0"/>
              </a:spcBef>
            </a:pPr>
            <a:r>
              <a:rPr lang="en-US" sz="2805" spc="-61">
                <a:solidFill>
                  <a:srgbClr val="000000"/>
                </a:solidFill>
                <a:latin typeface="Inter 2"/>
                <a:ea typeface="Inter 2"/>
                <a:cs typeface="Inter 2"/>
                <a:sym typeface="Inter 2"/>
              </a:rPr>
              <a:t>I</a:t>
            </a:r>
            <a:r>
              <a:rPr lang="en-US" sz="2805" u="none" strike="noStrike" spc="-61">
                <a:solidFill>
                  <a:srgbClr val="000000"/>
                </a:solidFill>
                <a:latin typeface="Inter 2"/>
                <a:ea typeface="Inter 2"/>
                <a:cs typeface="Inter 2"/>
                <a:sym typeface="Inter 2"/>
              </a:rPr>
              <a:t>rrelevant annotation or metadata columns were dropped so that only variables directly needed for analysis and visualisation remained, reducing clutter and improving clarity.</a:t>
            </a:r>
          </a:p>
        </p:txBody>
      </p:sp>
      <p:sp>
        <p:nvSpPr>
          <p:cNvPr id="14" name="AutoShape 14"/>
          <p:cNvSpPr/>
          <p:nvPr/>
        </p:nvSpPr>
        <p:spPr>
          <a:xfrm flipV="1">
            <a:off x="1028700" y="4288939"/>
            <a:ext cx="16425721" cy="0"/>
          </a:xfrm>
          <a:prstGeom prst="line">
            <a:avLst/>
          </a:prstGeom>
          <a:ln w="19050" cap="flat">
            <a:solidFill>
              <a:srgbClr val="000000"/>
            </a:solidFill>
            <a:prstDash val="sysDot"/>
            <a:headEnd type="none" w="sm" len="sm"/>
            <a:tailEnd type="none" w="sm" len="sm"/>
          </a:ln>
        </p:spPr>
        <p:txBody>
          <a:bodyPr/>
          <a:lstStyle/>
          <a:p>
            <a:endParaRPr lang="en-S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655093" y="-10906269"/>
            <a:ext cx="4044591" cy="20824751"/>
            <a:chOff x="0" y="0"/>
            <a:chExt cx="1449490" cy="7463120"/>
          </a:xfrm>
        </p:grpSpPr>
        <p:sp>
          <p:nvSpPr>
            <p:cNvPr id="3" name="Freeform 3"/>
            <p:cNvSpPr/>
            <p:nvPr/>
          </p:nvSpPr>
          <p:spPr>
            <a:xfrm>
              <a:off x="0" y="0"/>
              <a:ext cx="1449490" cy="7463120"/>
            </a:xfrm>
            <a:custGeom>
              <a:avLst/>
              <a:gdLst/>
              <a:ahLst/>
              <a:cxnLst/>
              <a:rect l="l" t="t" r="r" b="b"/>
              <a:pathLst>
                <a:path w="1449490" h="7463120">
                  <a:moveTo>
                    <a:pt x="0" y="0"/>
                  </a:moveTo>
                  <a:lnTo>
                    <a:pt x="1449490" y="0"/>
                  </a:lnTo>
                  <a:lnTo>
                    <a:pt x="1449490" y="7463120"/>
                  </a:lnTo>
                  <a:lnTo>
                    <a:pt x="0" y="7463120"/>
                  </a:lnTo>
                  <a:close/>
                </a:path>
              </a:pathLst>
            </a:custGeom>
            <a:solidFill>
              <a:srgbClr val="EFEEEC"/>
            </a:solidFill>
            <a:ln w="9525" cap="sq">
              <a:solidFill>
                <a:srgbClr val="403E3E"/>
              </a:solidFill>
              <a:prstDash val="solid"/>
              <a:miter/>
            </a:ln>
          </p:spPr>
          <p:txBody>
            <a:bodyPr/>
            <a:lstStyle/>
            <a:p>
              <a:endParaRPr lang="en-SG"/>
            </a:p>
          </p:txBody>
        </p:sp>
        <p:sp>
          <p:nvSpPr>
            <p:cNvPr id="4" name="TextBox 4"/>
            <p:cNvSpPr txBox="1"/>
            <p:nvPr/>
          </p:nvSpPr>
          <p:spPr>
            <a:xfrm>
              <a:off x="0" y="-47625"/>
              <a:ext cx="1449490" cy="751074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rot="-5400000">
            <a:off x="14695228" y="768039"/>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6" name="TextBox 6"/>
          <p:cNvSpPr txBox="1"/>
          <p:nvPr/>
        </p:nvSpPr>
        <p:spPr>
          <a:xfrm>
            <a:off x="15727959" y="476754"/>
            <a:ext cx="1770757"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403E3E"/>
                </a:solidFill>
                <a:latin typeface="Inter 2 Italics"/>
                <a:ea typeface="Inter 2 Italics"/>
                <a:cs typeface="Inter 2 Italics"/>
                <a:sym typeface="Inter 2 Italics"/>
              </a:rPr>
              <a:t>PREPROCESSING</a:t>
            </a:r>
          </a:p>
        </p:txBody>
      </p:sp>
      <p:sp>
        <p:nvSpPr>
          <p:cNvPr id="7" name="TextBox 7"/>
          <p:cNvSpPr txBox="1"/>
          <p:nvPr/>
        </p:nvSpPr>
        <p:spPr>
          <a:xfrm>
            <a:off x="417953" y="539937"/>
            <a:ext cx="13073464" cy="668020"/>
          </a:xfrm>
          <a:prstGeom prst="rect">
            <a:avLst/>
          </a:prstGeom>
        </p:spPr>
        <p:txBody>
          <a:bodyPr lIns="0" tIns="0" rIns="0" bIns="0" rtlCol="0" anchor="t">
            <a:spAutoFit/>
          </a:bodyPr>
          <a:lstStyle/>
          <a:p>
            <a:pPr marL="0" lvl="0" indent="0" algn="l">
              <a:lnSpc>
                <a:spcPts val="4760"/>
              </a:lnSpc>
              <a:spcBef>
                <a:spcPct val="0"/>
              </a:spcBef>
            </a:pPr>
            <a:r>
              <a:rPr lang="en-US" sz="5600" b="1" spc="-420">
                <a:solidFill>
                  <a:srgbClr val="000000"/>
                </a:solidFill>
                <a:latin typeface="Inter 2 Bold"/>
                <a:ea typeface="Inter 2 Bold"/>
                <a:cs typeface="Inter 2 Bold"/>
                <a:sym typeface="Inter 2 Bold"/>
              </a:rPr>
              <a:t>Handling Missing values and outliers</a:t>
            </a:r>
          </a:p>
        </p:txBody>
      </p:sp>
      <p:sp>
        <p:nvSpPr>
          <p:cNvPr id="8" name="TextBox 8"/>
          <p:cNvSpPr txBox="1"/>
          <p:nvPr/>
        </p:nvSpPr>
        <p:spPr>
          <a:xfrm>
            <a:off x="1028700" y="3161904"/>
            <a:ext cx="4752474"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MISSING DATA</a:t>
            </a:r>
          </a:p>
        </p:txBody>
      </p:sp>
      <p:sp>
        <p:nvSpPr>
          <p:cNvPr id="9" name="TextBox 9"/>
          <p:cNvSpPr txBox="1"/>
          <p:nvPr/>
        </p:nvSpPr>
        <p:spPr>
          <a:xfrm>
            <a:off x="979463" y="4622314"/>
            <a:ext cx="4752474" cy="2967227"/>
          </a:xfrm>
          <a:prstGeom prst="rect">
            <a:avLst/>
          </a:prstGeom>
        </p:spPr>
        <p:txBody>
          <a:bodyPr lIns="0" tIns="0" rIns="0" bIns="0" rtlCol="0" anchor="t">
            <a:spAutoFit/>
          </a:bodyPr>
          <a:lstStyle/>
          <a:p>
            <a:pPr marL="0" lvl="0" indent="0" algn="l">
              <a:lnSpc>
                <a:spcPts val="3927"/>
              </a:lnSpc>
              <a:spcBef>
                <a:spcPct val="0"/>
              </a:spcBef>
            </a:pPr>
            <a:r>
              <a:rPr lang="en-US" sz="2805" spc="-61">
                <a:solidFill>
                  <a:srgbClr val="000000"/>
                </a:solidFill>
                <a:latin typeface="Inter 2"/>
                <a:ea typeface="Inter 2"/>
                <a:cs typeface="Inter 2"/>
                <a:sym typeface="Inter 2"/>
              </a:rPr>
              <a:t>C</a:t>
            </a:r>
            <a:r>
              <a:rPr lang="en-US" sz="2805" u="none" strike="noStrike" spc="-61">
                <a:solidFill>
                  <a:srgbClr val="000000"/>
                </a:solidFill>
                <a:latin typeface="Inter 2"/>
                <a:ea typeface="Inter 2"/>
                <a:cs typeface="Inter 2"/>
                <a:sym typeface="Inter 2"/>
              </a:rPr>
              <a:t>olumns that added no analytical value (e.g., duplicate life-expectancy measures, unused GDP variants) were removed to avoid noise in the analysis.</a:t>
            </a:r>
          </a:p>
        </p:txBody>
      </p:sp>
      <p:sp>
        <p:nvSpPr>
          <p:cNvPr id="10" name="TextBox 10"/>
          <p:cNvSpPr txBox="1"/>
          <p:nvPr/>
        </p:nvSpPr>
        <p:spPr>
          <a:xfrm>
            <a:off x="6887471" y="3161904"/>
            <a:ext cx="4752474"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IRRELEVANT</a:t>
            </a:r>
          </a:p>
        </p:txBody>
      </p:sp>
      <p:sp>
        <p:nvSpPr>
          <p:cNvPr id="11" name="TextBox 11"/>
          <p:cNvSpPr txBox="1"/>
          <p:nvPr/>
        </p:nvSpPr>
        <p:spPr>
          <a:xfrm>
            <a:off x="6887471" y="4622314"/>
            <a:ext cx="4752474" cy="2967227"/>
          </a:xfrm>
          <a:prstGeom prst="rect">
            <a:avLst/>
          </a:prstGeom>
        </p:spPr>
        <p:txBody>
          <a:bodyPr lIns="0" tIns="0" rIns="0" bIns="0" rtlCol="0" anchor="t">
            <a:spAutoFit/>
          </a:bodyPr>
          <a:lstStyle/>
          <a:p>
            <a:pPr marL="0" lvl="0" indent="0" algn="l">
              <a:lnSpc>
                <a:spcPts val="3927"/>
              </a:lnSpc>
              <a:spcBef>
                <a:spcPct val="0"/>
              </a:spcBef>
            </a:pPr>
            <a:r>
              <a:rPr lang="en-US" sz="2805" spc="-61">
                <a:solidFill>
                  <a:srgbClr val="000000"/>
                </a:solidFill>
                <a:latin typeface="Inter 2"/>
                <a:ea typeface="Inter 2"/>
                <a:cs typeface="Inter 2"/>
                <a:sym typeface="Inter 2"/>
              </a:rPr>
              <a:t>S</a:t>
            </a:r>
            <a:r>
              <a:rPr lang="en-US" sz="2805" u="none" strike="noStrike" spc="-61">
                <a:solidFill>
                  <a:srgbClr val="000000"/>
                </a:solidFill>
                <a:latin typeface="Inter 2"/>
                <a:ea typeface="Inter 2"/>
                <a:cs typeface="Inter 2"/>
                <a:sym typeface="Inter 2"/>
              </a:rPr>
              <a:t>mall gaps in country time series were imputed using forward/backward fills to preserve each nation’s historical trend rather than introduce artificial jumps</a:t>
            </a:r>
          </a:p>
        </p:txBody>
      </p:sp>
      <p:sp>
        <p:nvSpPr>
          <p:cNvPr id="12" name="TextBox 12"/>
          <p:cNvSpPr txBox="1"/>
          <p:nvPr/>
        </p:nvSpPr>
        <p:spPr>
          <a:xfrm>
            <a:off x="12746241" y="3161904"/>
            <a:ext cx="4752474" cy="723334"/>
          </a:xfrm>
          <a:prstGeom prst="rect">
            <a:avLst/>
          </a:prstGeom>
        </p:spPr>
        <p:txBody>
          <a:bodyPr lIns="0" tIns="0" rIns="0" bIns="0" rtlCol="0" anchor="t">
            <a:spAutoFit/>
          </a:bodyPr>
          <a:lstStyle/>
          <a:p>
            <a:pPr marL="0" lvl="0" indent="0" algn="l">
              <a:lnSpc>
                <a:spcPts val="5892"/>
              </a:lnSpc>
              <a:spcBef>
                <a:spcPct val="0"/>
              </a:spcBef>
            </a:pPr>
            <a:r>
              <a:rPr lang="en-US" sz="4208" spc="-315">
                <a:solidFill>
                  <a:srgbClr val="000000"/>
                </a:solidFill>
                <a:latin typeface="Inter 2 Light"/>
                <a:ea typeface="Inter 2 Light"/>
                <a:cs typeface="Inter 2 Light"/>
                <a:sym typeface="Inter 2 Light"/>
              </a:rPr>
              <a:t>OUTLIER</a:t>
            </a:r>
          </a:p>
        </p:txBody>
      </p:sp>
      <p:sp>
        <p:nvSpPr>
          <p:cNvPr id="13" name="TextBox 13"/>
          <p:cNvSpPr txBox="1"/>
          <p:nvPr/>
        </p:nvSpPr>
        <p:spPr>
          <a:xfrm>
            <a:off x="12746241" y="4622314"/>
            <a:ext cx="4752474" cy="2967227"/>
          </a:xfrm>
          <a:prstGeom prst="rect">
            <a:avLst/>
          </a:prstGeom>
        </p:spPr>
        <p:txBody>
          <a:bodyPr lIns="0" tIns="0" rIns="0" bIns="0" rtlCol="0" anchor="t">
            <a:spAutoFit/>
          </a:bodyPr>
          <a:lstStyle/>
          <a:p>
            <a:pPr marL="0" lvl="0" indent="0" algn="l">
              <a:lnSpc>
                <a:spcPts val="3927"/>
              </a:lnSpc>
              <a:spcBef>
                <a:spcPct val="0"/>
              </a:spcBef>
            </a:pPr>
            <a:r>
              <a:rPr lang="en-US" sz="2805" spc="-61">
                <a:solidFill>
                  <a:srgbClr val="000000"/>
                </a:solidFill>
                <a:latin typeface="Inter 2"/>
                <a:ea typeface="Inter 2"/>
                <a:cs typeface="Inter 2"/>
                <a:sym typeface="Inter 2"/>
              </a:rPr>
              <a:t>Outlie</a:t>
            </a:r>
            <a:r>
              <a:rPr lang="en-US" sz="2805" u="none" strike="noStrike" spc="-61">
                <a:solidFill>
                  <a:srgbClr val="000000"/>
                </a:solidFill>
                <a:latin typeface="Inter 2"/>
                <a:ea typeface="Inter 2"/>
                <a:cs typeface="Inter 2"/>
                <a:sym typeface="Inter 2"/>
              </a:rPr>
              <a:t>rs were filtered using the IQR method to reduce distortion and ensure that extreme values did not disproportionately influence the results.</a:t>
            </a:r>
          </a:p>
        </p:txBody>
      </p:sp>
      <p:sp>
        <p:nvSpPr>
          <p:cNvPr id="14" name="AutoShape 14"/>
          <p:cNvSpPr/>
          <p:nvPr/>
        </p:nvSpPr>
        <p:spPr>
          <a:xfrm flipV="1">
            <a:off x="1028700" y="4288939"/>
            <a:ext cx="16425721" cy="0"/>
          </a:xfrm>
          <a:prstGeom prst="line">
            <a:avLst/>
          </a:prstGeom>
          <a:ln w="19050" cap="flat">
            <a:solidFill>
              <a:srgbClr val="000000"/>
            </a:solidFill>
            <a:prstDash val="sysDot"/>
            <a:headEnd type="none" w="sm" len="sm"/>
            <a:tailEnd type="none" w="sm" len="sm"/>
          </a:ln>
        </p:spPr>
        <p:txBody>
          <a:bodyPr/>
          <a:lstStyle/>
          <a:p>
            <a:endParaRPr lang="en-S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655093" y="-10906269"/>
            <a:ext cx="4044591" cy="20824751"/>
            <a:chOff x="0" y="0"/>
            <a:chExt cx="1449490" cy="7463120"/>
          </a:xfrm>
        </p:grpSpPr>
        <p:sp>
          <p:nvSpPr>
            <p:cNvPr id="3" name="Freeform 3"/>
            <p:cNvSpPr/>
            <p:nvPr/>
          </p:nvSpPr>
          <p:spPr>
            <a:xfrm>
              <a:off x="0" y="0"/>
              <a:ext cx="1449490" cy="7463120"/>
            </a:xfrm>
            <a:custGeom>
              <a:avLst/>
              <a:gdLst/>
              <a:ahLst/>
              <a:cxnLst/>
              <a:rect l="l" t="t" r="r" b="b"/>
              <a:pathLst>
                <a:path w="1449490" h="7463120">
                  <a:moveTo>
                    <a:pt x="0" y="0"/>
                  </a:moveTo>
                  <a:lnTo>
                    <a:pt x="1449490" y="0"/>
                  </a:lnTo>
                  <a:lnTo>
                    <a:pt x="1449490" y="7463120"/>
                  </a:lnTo>
                  <a:lnTo>
                    <a:pt x="0" y="7463120"/>
                  </a:lnTo>
                  <a:close/>
                </a:path>
              </a:pathLst>
            </a:custGeom>
            <a:solidFill>
              <a:srgbClr val="EFEEEC"/>
            </a:solidFill>
            <a:ln w="9525" cap="sq">
              <a:solidFill>
                <a:srgbClr val="403E3E"/>
              </a:solidFill>
              <a:prstDash val="solid"/>
              <a:miter/>
            </a:ln>
          </p:spPr>
          <p:txBody>
            <a:bodyPr/>
            <a:lstStyle/>
            <a:p>
              <a:endParaRPr lang="en-SG"/>
            </a:p>
          </p:txBody>
        </p:sp>
        <p:sp>
          <p:nvSpPr>
            <p:cNvPr id="4" name="TextBox 4"/>
            <p:cNvSpPr txBox="1"/>
            <p:nvPr/>
          </p:nvSpPr>
          <p:spPr>
            <a:xfrm>
              <a:off x="0" y="-47625"/>
              <a:ext cx="1449490" cy="751074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rot="-5400000">
            <a:off x="14695228" y="768039"/>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6" name="Freeform 6"/>
          <p:cNvSpPr/>
          <p:nvPr/>
        </p:nvSpPr>
        <p:spPr>
          <a:xfrm>
            <a:off x="417953" y="2002593"/>
            <a:ext cx="16617502" cy="8371067"/>
          </a:xfrm>
          <a:custGeom>
            <a:avLst/>
            <a:gdLst/>
            <a:ahLst/>
            <a:cxnLst/>
            <a:rect l="l" t="t" r="r" b="b"/>
            <a:pathLst>
              <a:path w="16617502" h="8371067">
                <a:moveTo>
                  <a:pt x="0" y="0"/>
                </a:moveTo>
                <a:lnTo>
                  <a:pt x="16617502" y="0"/>
                </a:lnTo>
                <a:lnTo>
                  <a:pt x="16617502" y="8371066"/>
                </a:lnTo>
                <a:lnTo>
                  <a:pt x="0" y="8371066"/>
                </a:lnTo>
                <a:lnTo>
                  <a:pt x="0" y="0"/>
                </a:lnTo>
                <a:close/>
              </a:path>
            </a:pathLst>
          </a:custGeom>
          <a:blipFill>
            <a:blip r:embed="rId4"/>
            <a:stretch>
              <a:fillRect/>
            </a:stretch>
          </a:blipFill>
        </p:spPr>
        <p:txBody>
          <a:bodyPr/>
          <a:lstStyle/>
          <a:p>
            <a:endParaRPr lang="en-SG"/>
          </a:p>
        </p:txBody>
      </p:sp>
      <p:sp>
        <p:nvSpPr>
          <p:cNvPr id="7" name="TextBox 7"/>
          <p:cNvSpPr txBox="1"/>
          <p:nvPr/>
        </p:nvSpPr>
        <p:spPr>
          <a:xfrm>
            <a:off x="15011401" y="476754"/>
            <a:ext cx="2487316" cy="294761"/>
          </a:xfrm>
          <a:prstGeom prst="rect">
            <a:avLst/>
          </a:prstGeom>
        </p:spPr>
        <p:txBody>
          <a:bodyPr wrap="square" lIns="0" tIns="0" rIns="0" bIns="0" rtlCol="0" anchor="t">
            <a:spAutoFit/>
          </a:bodyPr>
          <a:lstStyle/>
          <a:p>
            <a:pPr marL="0" lvl="0" indent="0" algn="r">
              <a:lnSpc>
                <a:spcPts val="2520"/>
              </a:lnSpc>
              <a:spcBef>
                <a:spcPct val="0"/>
              </a:spcBef>
            </a:pPr>
            <a:r>
              <a:rPr lang="en-US" sz="1800" i="1" spc="-72" dirty="0">
                <a:solidFill>
                  <a:srgbClr val="403E3E"/>
                </a:solidFill>
                <a:latin typeface="Inter 2 Italics"/>
                <a:ea typeface="Inter 2 Italics"/>
                <a:cs typeface="Inter 2 Italics"/>
                <a:sym typeface="Inter 2 Italics"/>
              </a:rPr>
              <a:t>PREPROCESSING</a:t>
            </a:r>
          </a:p>
        </p:txBody>
      </p:sp>
      <p:sp>
        <p:nvSpPr>
          <p:cNvPr id="8" name="TextBox 8"/>
          <p:cNvSpPr txBox="1"/>
          <p:nvPr/>
        </p:nvSpPr>
        <p:spPr>
          <a:xfrm>
            <a:off x="417953" y="539937"/>
            <a:ext cx="9594056" cy="668020"/>
          </a:xfrm>
          <a:prstGeom prst="rect">
            <a:avLst/>
          </a:prstGeom>
        </p:spPr>
        <p:txBody>
          <a:bodyPr lIns="0" tIns="0" rIns="0" bIns="0" rtlCol="0" anchor="t">
            <a:spAutoFit/>
          </a:bodyPr>
          <a:lstStyle/>
          <a:p>
            <a:pPr marL="0" lvl="0" indent="0" algn="l">
              <a:lnSpc>
                <a:spcPts val="4760"/>
              </a:lnSpc>
              <a:spcBef>
                <a:spcPct val="0"/>
              </a:spcBef>
            </a:pPr>
            <a:r>
              <a:rPr lang="en-US" sz="5600" b="1" spc="-420">
                <a:solidFill>
                  <a:srgbClr val="000000"/>
                </a:solidFill>
                <a:latin typeface="Inter 2 Bold"/>
                <a:ea typeface="Inter 2 Bold"/>
                <a:cs typeface="Inter 2 Bold"/>
                <a:sym typeface="Inter 2 Bold"/>
              </a:rPr>
              <a:t>Engineered Features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32431" y="4605338"/>
            <a:ext cx="10730064" cy="1076325"/>
            <a:chOff x="0" y="0"/>
            <a:chExt cx="3845413" cy="385731"/>
          </a:xfrm>
        </p:grpSpPr>
        <p:sp>
          <p:nvSpPr>
            <p:cNvPr id="3" name="Freeform 3"/>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1028700" y="1877695"/>
            <a:ext cx="15223854" cy="7592897"/>
          </a:xfrm>
          <a:custGeom>
            <a:avLst/>
            <a:gdLst/>
            <a:ahLst/>
            <a:cxnLst/>
            <a:rect l="l" t="t" r="r" b="b"/>
            <a:pathLst>
              <a:path w="15223854" h="7592897">
                <a:moveTo>
                  <a:pt x="0" y="0"/>
                </a:moveTo>
                <a:lnTo>
                  <a:pt x="15223854" y="0"/>
                </a:lnTo>
                <a:lnTo>
                  <a:pt x="15223854" y="7592897"/>
                </a:lnTo>
                <a:lnTo>
                  <a:pt x="0" y="7592897"/>
                </a:lnTo>
                <a:lnTo>
                  <a:pt x="0" y="0"/>
                </a:lnTo>
                <a:close/>
              </a:path>
            </a:pathLst>
          </a:custGeom>
          <a:blipFill>
            <a:blip r:embed="rId2"/>
            <a:stretch>
              <a:fillRect/>
            </a:stretch>
          </a:blipFill>
        </p:spPr>
        <p:txBody>
          <a:bodyPr/>
          <a:lstStyle/>
          <a:p>
            <a:endParaRPr lang="en-SG"/>
          </a:p>
        </p:txBody>
      </p:sp>
      <p:sp>
        <p:nvSpPr>
          <p:cNvPr id="6" name="TextBox 6"/>
          <p:cNvSpPr txBox="1"/>
          <p:nvPr/>
        </p:nvSpPr>
        <p:spPr>
          <a:xfrm>
            <a:off x="1028700" y="1209675"/>
            <a:ext cx="7959169" cy="668020"/>
          </a:xfrm>
          <a:prstGeom prst="rect">
            <a:avLst/>
          </a:prstGeom>
        </p:spPr>
        <p:txBody>
          <a:bodyPr lIns="0" tIns="0" rIns="0" bIns="0" rtlCol="0" anchor="t">
            <a:spAutoFit/>
          </a:bodyPr>
          <a:lstStyle/>
          <a:p>
            <a:pPr marL="0" lvl="0" indent="0" algn="l">
              <a:lnSpc>
                <a:spcPts val="4760"/>
              </a:lnSpc>
              <a:spcBef>
                <a:spcPct val="0"/>
              </a:spcBef>
            </a:pPr>
            <a:r>
              <a:rPr lang="en-US" sz="5600" spc="-420">
                <a:solidFill>
                  <a:srgbClr val="000000"/>
                </a:solidFill>
                <a:latin typeface="Inter 2"/>
                <a:ea typeface="Inter 2"/>
                <a:cs typeface="Inter 2"/>
                <a:sym typeface="Inter 2"/>
              </a:rPr>
              <a:t>Trends </a:t>
            </a:r>
          </a:p>
        </p:txBody>
      </p:sp>
      <p:sp>
        <p:nvSpPr>
          <p:cNvPr id="7" name="TextBox 7"/>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32431" y="4605338"/>
            <a:ext cx="10730064" cy="1076325"/>
            <a:chOff x="0" y="0"/>
            <a:chExt cx="3845413" cy="385731"/>
          </a:xfrm>
        </p:grpSpPr>
        <p:sp>
          <p:nvSpPr>
            <p:cNvPr id="3" name="Freeform 3"/>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1028700" y="1877695"/>
            <a:ext cx="16113206" cy="8056603"/>
          </a:xfrm>
          <a:custGeom>
            <a:avLst/>
            <a:gdLst/>
            <a:ahLst/>
            <a:cxnLst/>
            <a:rect l="l" t="t" r="r" b="b"/>
            <a:pathLst>
              <a:path w="16113206" h="8056603">
                <a:moveTo>
                  <a:pt x="0" y="0"/>
                </a:moveTo>
                <a:lnTo>
                  <a:pt x="16113206" y="0"/>
                </a:lnTo>
                <a:lnTo>
                  <a:pt x="16113206" y="8056603"/>
                </a:lnTo>
                <a:lnTo>
                  <a:pt x="0" y="8056603"/>
                </a:lnTo>
                <a:lnTo>
                  <a:pt x="0" y="0"/>
                </a:lnTo>
                <a:close/>
              </a:path>
            </a:pathLst>
          </a:custGeom>
          <a:blipFill>
            <a:blip r:embed="rId2"/>
            <a:stretch>
              <a:fillRect/>
            </a:stretch>
          </a:blipFill>
        </p:spPr>
        <p:txBody>
          <a:bodyPr/>
          <a:lstStyle/>
          <a:p>
            <a:endParaRPr lang="en-SG"/>
          </a:p>
        </p:txBody>
      </p:sp>
      <p:sp>
        <p:nvSpPr>
          <p:cNvPr id="6" name="TextBox 6"/>
          <p:cNvSpPr txBox="1"/>
          <p:nvPr/>
        </p:nvSpPr>
        <p:spPr>
          <a:xfrm>
            <a:off x="1028700" y="1209675"/>
            <a:ext cx="7959169" cy="668020"/>
          </a:xfrm>
          <a:prstGeom prst="rect">
            <a:avLst/>
          </a:prstGeom>
        </p:spPr>
        <p:txBody>
          <a:bodyPr lIns="0" tIns="0" rIns="0" bIns="0" rtlCol="0" anchor="t">
            <a:spAutoFit/>
          </a:bodyPr>
          <a:lstStyle/>
          <a:p>
            <a:pPr marL="0" lvl="0" indent="0" algn="l">
              <a:lnSpc>
                <a:spcPts val="4760"/>
              </a:lnSpc>
              <a:spcBef>
                <a:spcPct val="0"/>
              </a:spcBef>
            </a:pPr>
            <a:r>
              <a:rPr lang="en-US" sz="5600" spc="-420">
                <a:solidFill>
                  <a:srgbClr val="000000"/>
                </a:solidFill>
                <a:latin typeface="Inter 2"/>
                <a:ea typeface="Inter 2"/>
                <a:cs typeface="Inter 2"/>
                <a:sym typeface="Inter 2"/>
              </a:rPr>
              <a:t>Trends </a:t>
            </a:r>
          </a:p>
        </p:txBody>
      </p:sp>
      <p:sp>
        <p:nvSpPr>
          <p:cNvPr id="7" name="TextBox 7"/>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14" name="Freeform 3">
            <a:extLst>
              <a:ext uri="{FF2B5EF4-FFF2-40B4-BE49-F238E27FC236}">
                <a16:creationId xmlns:a16="http://schemas.microsoft.com/office/drawing/2014/main" id="{F49D06CB-0E06-2E09-820D-5365EB98ABEF}"/>
              </a:ext>
            </a:extLst>
          </p:cNvPr>
          <p:cNvSpPr/>
          <p:nvPr/>
        </p:nvSpPr>
        <p:spPr>
          <a:xfrm rot="5400000">
            <a:off x="9403216" y="1349186"/>
            <a:ext cx="10287000" cy="7482568"/>
          </a:xfrm>
          <a:custGeom>
            <a:avLst/>
            <a:gdLst/>
            <a:ahLst/>
            <a:cxnLst/>
            <a:rect l="l" t="t" r="r" b="b"/>
            <a:pathLst>
              <a:path w="3845413" h="385731">
                <a:moveTo>
                  <a:pt x="0" y="0"/>
                </a:moveTo>
                <a:lnTo>
                  <a:pt x="3845413" y="0"/>
                </a:lnTo>
                <a:lnTo>
                  <a:pt x="3845413" y="385731"/>
                </a:lnTo>
                <a:lnTo>
                  <a:pt x="0" y="385731"/>
                </a:lnTo>
                <a:close/>
              </a:path>
            </a:pathLst>
          </a:custGeom>
          <a:solidFill>
            <a:schemeClr val="bg2"/>
          </a:solidFill>
          <a:ln w="9525" cap="sq">
            <a:noFill/>
            <a:prstDash val="solid"/>
            <a:miter/>
          </a:ln>
        </p:spPr>
        <p:txBody>
          <a:bodyPr/>
          <a:lstStyle/>
          <a:p>
            <a:endParaRPr lang="en-SG"/>
          </a:p>
        </p:txBody>
      </p:sp>
      <p:sp>
        <p:nvSpPr>
          <p:cNvPr id="6" name="TextBox 6"/>
          <p:cNvSpPr txBox="1"/>
          <p:nvPr/>
        </p:nvSpPr>
        <p:spPr>
          <a:xfrm>
            <a:off x="14782801" y="395008"/>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dirty="0">
                <a:solidFill>
                  <a:srgbClr val="000000"/>
                </a:solidFill>
                <a:latin typeface="Inter 2 Italics"/>
                <a:ea typeface="Inter 2 Italics"/>
                <a:cs typeface="Inter 2 Italics"/>
                <a:sym typeface="Inter 2 Italics"/>
              </a:rPr>
              <a:t>VISUAL ANALYSIS</a:t>
            </a:r>
          </a:p>
        </p:txBody>
      </p:sp>
      <p:graphicFrame>
        <p:nvGraphicFramePr>
          <p:cNvPr id="7" name="Table 6">
            <a:extLst>
              <a:ext uri="{FF2B5EF4-FFF2-40B4-BE49-F238E27FC236}">
                <a16:creationId xmlns:a16="http://schemas.microsoft.com/office/drawing/2014/main" id="{92ADFA73-C2E6-AAF6-610A-D3AA453D4517}"/>
              </a:ext>
            </a:extLst>
          </p:cNvPr>
          <p:cNvGraphicFramePr>
            <a:graphicFrameLocks noGrp="1"/>
          </p:cNvGraphicFramePr>
          <p:nvPr>
            <p:extLst>
              <p:ext uri="{D42A27DB-BD31-4B8C-83A1-F6EECF244321}">
                <p14:modId xmlns:p14="http://schemas.microsoft.com/office/powerpoint/2010/main" val="4188519199"/>
              </p:ext>
            </p:extLst>
          </p:nvPr>
        </p:nvGraphicFramePr>
        <p:xfrm>
          <a:off x="457201" y="1866900"/>
          <a:ext cx="9220199" cy="3664294"/>
        </p:xfrm>
        <a:graphic>
          <a:graphicData uri="http://schemas.openxmlformats.org/drawingml/2006/table">
            <a:tbl>
              <a:tblPr/>
              <a:tblGrid>
                <a:gridCol w="2103268">
                  <a:extLst>
                    <a:ext uri="{9D8B030D-6E8A-4147-A177-3AD203B41FA5}">
                      <a16:colId xmlns:a16="http://schemas.microsoft.com/office/drawing/2014/main" val="3742007559"/>
                    </a:ext>
                  </a:extLst>
                </a:gridCol>
                <a:gridCol w="2048589">
                  <a:extLst>
                    <a:ext uri="{9D8B030D-6E8A-4147-A177-3AD203B41FA5}">
                      <a16:colId xmlns:a16="http://schemas.microsoft.com/office/drawing/2014/main" val="3638132915"/>
                    </a:ext>
                  </a:extLst>
                </a:gridCol>
                <a:gridCol w="2315797">
                  <a:extLst>
                    <a:ext uri="{9D8B030D-6E8A-4147-A177-3AD203B41FA5}">
                      <a16:colId xmlns:a16="http://schemas.microsoft.com/office/drawing/2014/main" val="1971100967"/>
                    </a:ext>
                  </a:extLst>
                </a:gridCol>
                <a:gridCol w="2752545">
                  <a:extLst>
                    <a:ext uri="{9D8B030D-6E8A-4147-A177-3AD203B41FA5}">
                      <a16:colId xmlns:a16="http://schemas.microsoft.com/office/drawing/2014/main" val="1924848457"/>
                    </a:ext>
                  </a:extLst>
                </a:gridCol>
              </a:tblGrid>
              <a:tr h="890116">
                <a:tc>
                  <a:txBody>
                    <a:bodyPr/>
                    <a:lstStyle/>
                    <a:p>
                      <a:pPr algn="ctr" fontAlgn="b">
                        <a:buNone/>
                      </a:pPr>
                      <a:endParaRPr lang="en-SG" sz="2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1" i="0" u="none" strike="noStrike" dirty="0" err="1">
                          <a:solidFill>
                            <a:srgbClr val="000000"/>
                          </a:solidFill>
                          <a:effectLst/>
                          <a:latin typeface="Calibri" panose="020F0502020204030204" pitchFamily="34" charset="0"/>
                        </a:rPr>
                        <a:t>GDP_pc</a:t>
                      </a:r>
                      <a:endParaRPr lang="en-SG"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1" i="0" u="none" strike="noStrike" dirty="0">
                          <a:solidFill>
                            <a:srgbClr val="000000"/>
                          </a:solidFill>
                          <a:effectLst/>
                          <a:latin typeface="Calibri" panose="020F0502020204030204" pitchFamily="34" charset="0"/>
                        </a:rPr>
                        <a:t>LE_0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1" i="0" u="none" strike="noStrike" dirty="0" err="1">
                          <a:solidFill>
                            <a:srgbClr val="000000"/>
                          </a:solidFill>
                          <a:effectLst/>
                          <a:latin typeface="Calibri" panose="020F0502020204030204" pitchFamily="34" charset="0"/>
                        </a:rPr>
                        <a:t>LE_mean</a:t>
                      </a:r>
                      <a:endParaRPr lang="en-SG"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0238658"/>
                  </a:ext>
                </a:extLst>
              </a:tr>
              <a:tr h="993946">
                <a:tc>
                  <a:txBody>
                    <a:bodyPr/>
                    <a:lstStyle/>
                    <a:p>
                      <a:pPr algn="r" fontAlgn="b">
                        <a:buNone/>
                      </a:pPr>
                      <a:r>
                        <a:rPr lang="en-SG" sz="2800" b="1" i="0" u="none" strike="noStrike" dirty="0" err="1">
                          <a:solidFill>
                            <a:srgbClr val="000000"/>
                          </a:solidFill>
                          <a:effectLst/>
                          <a:latin typeface="Calibri" panose="020F0502020204030204" pitchFamily="34" charset="0"/>
                        </a:rPr>
                        <a:t>GDP_pc</a:t>
                      </a:r>
                      <a:endParaRPr lang="en-SG"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0.985467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0.985671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416426"/>
                  </a:ext>
                </a:extLst>
              </a:tr>
              <a:tr h="890116">
                <a:tc>
                  <a:txBody>
                    <a:bodyPr/>
                    <a:lstStyle/>
                    <a:p>
                      <a:pPr algn="r" fontAlgn="b">
                        <a:buNone/>
                      </a:pPr>
                      <a:r>
                        <a:rPr lang="en-SG" sz="2800" b="1" i="0" u="none" strike="noStrike" dirty="0">
                          <a:solidFill>
                            <a:srgbClr val="000000"/>
                          </a:solidFill>
                          <a:effectLst/>
                          <a:latin typeface="Calibri" panose="020F0502020204030204" pitchFamily="34" charset="0"/>
                        </a:rPr>
                        <a:t>LE_0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0.985467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0.997781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4145360"/>
                  </a:ext>
                </a:extLst>
              </a:tr>
              <a:tr h="890116">
                <a:tc>
                  <a:txBody>
                    <a:bodyPr/>
                    <a:lstStyle/>
                    <a:p>
                      <a:pPr algn="r" fontAlgn="b">
                        <a:buNone/>
                      </a:pPr>
                      <a:r>
                        <a:rPr lang="en-SG" sz="2800" b="1" i="0" u="none" strike="noStrike" dirty="0">
                          <a:solidFill>
                            <a:srgbClr val="000000"/>
                          </a:solidFill>
                          <a:effectLst/>
                          <a:latin typeface="Calibri" panose="020F0502020204030204" pitchFamily="34" charset="0"/>
                        </a:rPr>
                        <a:t>LE_mean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0.985671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a:solidFill>
                            <a:srgbClr val="000000"/>
                          </a:solidFill>
                          <a:effectLst/>
                          <a:latin typeface="Calibri" panose="020F0502020204030204" pitchFamily="34" charset="0"/>
                        </a:rPr>
                        <a:t>0.997781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28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4622325"/>
                  </a:ext>
                </a:extLst>
              </a:tr>
            </a:tbl>
          </a:graphicData>
        </a:graphic>
      </p:graphicFrame>
      <p:sp>
        <p:nvSpPr>
          <p:cNvPr id="18" name="TextBox 5">
            <a:extLst>
              <a:ext uri="{FF2B5EF4-FFF2-40B4-BE49-F238E27FC236}">
                <a16:creationId xmlns:a16="http://schemas.microsoft.com/office/drawing/2014/main" id="{8A3D6C7B-2171-E304-28A7-7C5150CA9913}"/>
              </a:ext>
            </a:extLst>
          </p:cNvPr>
          <p:cNvSpPr txBox="1"/>
          <p:nvPr/>
        </p:nvSpPr>
        <p:spPr>
          <a:xfrm>
            <a:off x="457201" y="395008"/>
            <a:ext cx="11808726" cy="135421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a:p>
            <a:r>
              <a:rPr lang="en-SG" sz="4800" dirty="0"/>
              <a:t>Correlation Decade Mean</a:t>
            </a:r>
          </a:p>
        </p:txBody>
      </p:sp>
      <p:graphicFrame>
        <p:nvGraphicFramePr>
          <p:cNvPr id="19" name="Table 18">
            <a:extLst>
              <a:ext uri="{FF2B5EF4-FFF2-40B4-BE49-F238E27FC236}">
                <a16:creationId xmlns:a16="http://schemas.microsoft.com/office/drawing/2014/main" id="{DD78828A-99A6-9FE9-5571-9327A19EC69D}"/>
              </a:ext>
            </a:extLst>
          </p:cNvPr>
          <p:cNvGraphicFramePr>
            <a:graphicFrameLocks noGrp="1"/>
          </p:cNvGraphicFramePr>
          <p:nvPr>
            <p:extLst>
              <p:ext uri="{D42A27DB-BD31-4B8C-83A1-F6EECF244321}">
                <p14:modId xmlns:p14="http://schemas.microsoft.com/office/powerpoint/2010/main" val="1242829301"/>
              </p:ext>
            </p:extLst>
          </p:nvPr>
        </p:nvGraphicFramePr>
        <p:xfrm>
          <a:off x="431801" y="6743700"/>
          <a:ext cx="5293402" cy="1483360"/>
        </p:xfrm>
        <a:graphic>
          <a:graphicData uri="http://schemas.openxmlformats.org/drawingml/2006/table">
            <a:tbl>
              <a:tblPr firstRow="1" bandRow="1">
                <a:tableStyleId>{5C22544A-7EE6-4342-B048-85BDC9FD1C3A}</a:tableStyleId>
              </a:tblPr>
              <a:tblGrid>
                <a:gridCol w="1664986">
                  <a:extLst>
                    <a:ext uri="{9D8B030D-6E8A-4147-A177-3AD203B41FA5}">
                      <a16:colId xmlns:a16="http://schemas.microsoft.com/office/drawing/2014/main" val="3268575556"/>
                    </a:ext>
                  </a:extLst>
                </a:gridCol>
                <a:gridCol w="3628416">
                  <a:extLst>
                    <a:ext uri="{9D8B030D-6E8A-4147-A177-3AD203B41FA5}">
                      <a16:colId xmlns:a16="http://schemas.microsoft.com/office/drawing/2014/main" val="3626362152"/>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Legend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SG"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76869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err="1">
                          <a:solidFill>
                            <a:sysClr val="windowText" lastClr="000000"/>
                          </a:solidFill>
                          <a:effectLst/>
                          <a:latin typeface="Calibri" panose="020F0502020204030204" pitchFamily="34" charset="0"/>
                        </a:rPr>
                        <a:t>GDP_pc</a:t>
                      </a:r>
                      <a:endParaRPr lang="en-SG" sz="1800" b="1" i="0" u="sng" strike="noStrike" dirty="0">
                        <a:solidFill>
                          <a:sysClr val="windowText" lastClr="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Raw GDP per capita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37042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LE_0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Life Expectancy at birth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550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LE_mean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Mean Life Expectancy across all 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9625657"/>
                  </a:ext>
                </a:extLst>
              </a:tr>
            </a:tbl>
          </a:graphicData>
        </a:graphic>
      </p:graphicFrame>
      <p:sp>
        <p:nvSpPr>
          <p:cNvPr id="21" name="TextBox 20">
            <a:extLst>
              <a:ext uri="{FF2B5EF4-FFF2-40B4-BE49-F238E27FC236}">
                <a16:creationId xmlns:a16="http://schemas.microsoft.com/office/drawing/2014/main" id="{C2C7FDBE-B18C-1CB9-25A6-381D55F672CD}"/>
              </a:ext>
            </a:extLst>
          </p:cNvPr>
          <p:cNvSpPr txBox="1"/>
          <p:nvPr/>
        </p:nvSpPr>
        <p:spPr>
          <a:xfrm>
            <a:off x="11155816" y="1749225"/>
            <a:ext cx="6781799" cy="6124754"/>
          </a:xfrm>
          <a:prstGeom prst="rect">
            <a:avLst/>
          </a:prstGeom>
          <a:noFill/>
        </p:spPr>
        <p:txBody>
          <a:bodyPr wrap="square">
            <a:spAutoFit/>
          </a:bodyPr>
          <a:lstStyle/>
          <a:p>
            <a:pPr marL="457200" indent="-457200">
              <a:buFont typeface="Arial" panose="020B0604020202020204" pitchFamily="34" charset="0"/>
              <a:buChar char="•"/>
            </a:pPr>
            <a:r>
              <a:rPr lang="en-US" sz="2800" b="1" dirty="0"/>
              <a:t>Very high correlations (&gt;0.98)</a:t>
            </a:r>
            <a:r>
              <a:rPr lang="en-US" sz="2800" dirty="0"/>
              <a:t> across all variables.</a:t>
            </a:r>
          </a:p>
          <a:p>
            <a:pPr>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GDP and life expectancy move closely together</a:t>
            </a:r>
            <a:r>
              <a:rPr lang="en-US" sz="2800" dirty="0"/>
              <a:t> when averaged by decade.</a:t>
            </a:r>
          </a:p>
          <a:p>
            <a:pPr>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LE_0 and </a:t>
            </a:r>
            <a:r>
              <a:rPr lang="en-US" sz="2800" b="1" dirty="0" err="1"/>
              <a:t>LE_mean</a:t>
            </a:r>
            <a:r>
              <a:rPr lang="en-US" sz="2800" b="1" dirty="0"/>
              <a:t> almost identical</a:t>
            </a:r>
            <a:r>
              <a:rPr lang="en-US" sz="2800" dirty="0"/>
              <a:t> (≈0.998 correlation).</a:t>
            </a:r>
          </a:p>
          <a:p>
            <a:pPr>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Smoothing removes noise → </a:t>
            </a:r>
            <a:r>
              <a:rPr lang="en-US" sz="2800" b="1" dirty="0"/>
              <a:t>reveals strong long-run co-movement</a:t>
            </a:r>
            <a:r>
              <a:rPr lang="en-US" sz="2800" dirty="0"/>
              <a:t>.</a:t>
            </a:r>
          </a:p>
          <a:p>
            <a:pPr>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Shows </a:t>
            </a:r>
            <a:r>
              <a:rPr lang="en-US" sz="2800" b="1" dirty="0"/>
              <a:t>stable global progress</a:t>
            </a:r>
            <a:r>
              <a:rPr lang="en-US" sz="2800" dirty="0"/>
              <a:t> in both income and longevity over decades.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E870B-3984-1B99-AD42-998A489DAC03}"/>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9F3179C-2A5C-76B0-E19D-A14192F5CBE9}"/>
              </a:ext>
            </a:extLst>
          </p:cNvPr>
          <p:cNvSpPr/>
          <p:nvPr/>
        </p:nvSpPr>
        <p:spPr>
          <a:xfrm rot="5400000">
            <a:off x="9403215" y="1402216"/>
            <a:ext cx="10287000" cy="7482568"/>
          </a:xfrm>
          <a:custGeom>
            <a:avLst/>
            <a:gdLst/>
            <a:ahLst/>
            <a:cxnLst/>
            <a:rect l="l" t="t" r="r" b="b"/>
            <a:pathLst>
              <a:path w="3845413" h="385731">
                <a:moveTo>
                  <a:pt x="0" y="0"/>
                </a:moveTo>
                <a:lnTo>
                  <a:pt x="3845413" y="0"/>
                </a:lnTo>
                <a:lnTo>
                  <a:pt x="3845413" y="385731"/>
                </a:lnTo>
                <a:lnTo>
                  <a:pt x="0" y="385731"/>
                </a:lnTo>
                <a:close/>
              </a:path>
            </a:pathLst>
          </a:custGeom>
          <a:solidFill>
            <a:schemeClr val="bg2"/>
          </a:solidFill>
          <a:ln w="9525" cap="sq">
            <a:noFill/>
            <a:prstDash val="solid"/>
            <a:miter/>
          </a:ln>
        </p:spPr>
        <p:txBody>
          <a:bodyPr/>
          <a:lstStyle/>
          <a:p>
            <a:endParaRPr lang="en-SG"/>
          </a:p>
        </p:txBody>
      </p:sp>
      <p:sp>
        <p:nvSpPr>
          <p:cNvPr id="5" name="TextBox 5">
            <a:extLst>
              <a:ext uri="{FF2B5EF4-FFF2-40B4-BE49-F238E27FC236}">
                <a16:creationId xmlns:a16="http://schemas.microsoft.com/office/drawing/2014/main" id="{A05DEA1F-FED6-9462-2846-A4D6E34324FD}"/>
              </a:ext>
            </a:extLst>
          </p:cNvPr>
          <p:cNvSpPr txBox="1"/>
          <p:nvPr/>
        </p:nvSpPr>
        <p:spPr>
          <a:xfrm>
            <a:off x="457200" y="395008"/>
            <a:ext cx="11808726" cy="135421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a:p>
            <a:r>
              <a:rPr lang="en-SG" sz="4800" dirty="0"/>
              <a:t>Correlation Pearson</a:t>
            </a:r>
          </a:p>
        </p:txBody>
      </p:sp>
      <p:sp>
        <p:nvSpPr>
          <p:cNvPr id="6" name="TextBox 6">
            <a:extLst>
              <a:ext uri="{FF2B5EF4-FFF2-40B4-BE49-F238E27FC236}">
                <a16:creationId xmlns:a16="http://schemas.microsoft.com/office/drawing/2014/main" id="{5C893828-78AE-54FE-2434-AA588F54ECAE}"/>
              </a:ext>
            </a:extLst>
          </p:cNvPr>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graphicFrame>
        <p:nvGraphicFramePr>
          <p:cNvPr id="8" name="Table 7">
            <a:extLst>
              <a:ext uri="{FF2B5EF4-FFF2-40B4-BE49-F238E27FC236}">
                <a16:creationId xmlns:a16="http://schemas.microsoft.com/office/drawing/2014/main" id="{08FF7483-86EA-EF4A-0437-21BED0B2857C}"/>
              </a:ext>
            </a:extLst>
          </p:cNvPr>
          <p:cNvGraphicFramePr>
            <a:graphicFrameLocks noGrp="1"/>
          </p:cNvGraphicFramePr>
          <p:nvPr>
            <p:extLst>
              <p:ext uri="{D42A27DB-BD31-4B8C-83A1-F6EECF244321}">
                <p14:modId xmlns:p14="http://schemas.microsoft.com/office/powerpoint/2010/main" val="572814086"/>
              </p:ext>
            </p:extLst>
          </p:nvPr>
        </p:nvGraphicFramePr>
        <p:xfrm>
          <a:off x="457200" y="1749225"/>
          <a:ext cx="10045253" cy="6095910"/>
        </p:xfrm>
        <a:graphic>
          <a:graphicData uri="http://schemas.openxmlformats.org/drawingml/2006/table">
            <a:tbl>
              <a:tblPr/>
              <a:tblGrid>
                <a:gridCol w="2221957">
                  <a:extLst>
                    <a:ext uri="{9D8B030D-6E8A-4147-A177-3AD203B41FA5}">
                      <a16:colId xmlns:a16="http://schemas.microsoft.com/office/drawing/2014/main" val="4174179207"/>
                    </a:ext>
                  </a:extLst>
                </a:gridCol>
                <a:gridCol w="1825268">
                  <a:extLst>
                    <a:ext uri="{9D8B030D-6E8A-4147-A177-3AD203B41FA5}">
                      <a16:colId xmlns:a16="http://schemas.microsoft.com/office/drawing/2014/main" val="3955868528"/>
                    </a:ext>
                  </a:extLst>
                </a:gridCol>
                <a:gridCol w="2096422">
                  <a:extLst>
                    <a:ext uri="{9D8B030D-6E8A-4147-A177-3AD203B41FA5}">
                      <a16:colId xmlns:a16="http://schemas.microsoft.com/office/drawing/2014/main" val="694006623"/>
                    </a:ext>
                  </a:extLst>
                </a:gridCol>
                <a:gridCol w="1950803">
                  <a:extLst>
                    <a:ext uri="{9D8B030D-6E8A-4147-A177-3AD203B41FA5}">
                      <a16:colId xmlns:a16="http://schemas.microsoft.com/office/drawing/2014/main" val="872819650"/>
                    </a:ext>
                  </a:extLst>
                </a:gridCol>
                <a:gridCol w="1950803">
                  <a:extLst>
                    <a:ext uri="{9D8B030D-6E8A-4147-A177-3AD203B41FA5}">
                      <a16:colId xmlns:a16="http://schemas.microsoft.com/office/drawing/2014/main" val="1037048804"/>
                    </a:ext>
                  </a:extLst>
                </a:gridCol>
              </a:tblGrid>
              <a:tr h="924544">
                <a:tc>
                  <a:txBody>
                    <a:bodyPr/>
                    <a:lstStyle/>
                    <a:p>
                      <a:pPr algn="ctr" fontAlgn="b">
                        <a:buNone/>
                      </a:pPr>
                      <a:endParaRPr lang="en-SG" sz="3200" b="0"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1" i="0" u="sng" strike="noStrike" dirty="0" err="1">
                          <a:solidFill>
                            <a:srgbClr val="000000"/>
                          </a:solidFill>
                          <a:effectLst/>
                          <a:latin typeface="Calibri" panose="020F0502020204030204" pitchFamily="34" charset="0"/>
                        </a:rPr>
                        <a:t>GDP_pc</a:t>
                      </a:r>
                      <a:endParaRPr lang="en-SG" sz="3200" b="1" i="0" u="sng"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1" i="0" u="sng" strike="noStrike" dirty="0" err="1">
                          <a:solidFill>
                            <a:srgbClr val="000000"/>
                          </a:solidFill>
                          <a:effectLst/>
                          <a:latin typeface="Calibri" panose="020F0502020204030204" pitchFamily="34" charset="0"/>
                        </a:rPr>
                        <a:t>log_GDP_pc</a:t>
                      </a:r>
                      <a:endParaRPr lang="en-SG" sz="3200" b="1" i="0" u="sng"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1" i="0" u="sng" strike="noStrike" dirty="0">
                          <a:solidFill>
                            <a:srgbClr val="000000"/>
                          </a:solidFill>
                          <a:effectLst/>
                          <a:latin typeface="Calibri" panose="020F0502020204030204" pitchFamily="34" charset="0"/>
                        </a:rPr>
                        <a:t>LE_0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1" i="0" u="sng" strike="noStrike" dirty="0">
                          <a:solidFill>
                            <a:srgbClr val="000000"/>
                          </a:solidFill>
                          <a:effectLst/>
                          <a:latin typeface="Calibri" panose="020F0502020204030204" pitchFamily="34" charset="0"/>
                        </a:rPr>
                        <a:t>LE_mean</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6927374"/>
                  </a:ext>
                </a:extLst>
              </a:tr>
              <a:tr h="1262744">
                <a:tc>
                  <a:txBody>
                    <a:bodyPr/>
                    <a:lstStyle/>
                    <a:p>
                      <a:pPr algn="r" fontAlgn="b">
                        <a:buNone/>
                      </a:pPr>
                      <a:r>
                        <a:rPr lang="en-SG" sz="3200" b="1" i="0" u="sng" strike="noStrike" dirty="0" err="1">
                          <a:solidFill>
                            <a:srgbClr val="000000"/>
                          </a:solidFill>
                          <a:effectLst/>
                          <a:latin typeface="Calibri" panose="020F0502020204030204" pitchFamily="34" charset="0"/>
                        </a:rPr>
                        <a:t>GDP_pc</a:t>
                      </a:r>
                      <a:endParaRPr lang="en-SG" sz="3200" b="1" i="0" u="sng"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1</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0.902949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0.699438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0.714579</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0573028"/>
                  </a:ext>
                </a:extLst>
              </a:tr>
              <a:tr h="1383134">
                <a:tc>
                  <a:txBody>
                    <a:bodyPr/>
                    <a:lstStyle/>
                    <a:p>
                      <a:pPr algn="r" fontAlgn="b">
                        <a:buNone/>
                      </a:pPr>
                      <a:r>
                        <a:rPr lang="en-SG" sz="3200" b="1" i="0" u="sng" strike="noStrike" dirty="0" err="1">
                          <a:solidFill>
                            <a:srgbClr val="000000"/>
                          </a:solidFill>
                          <a:effectLst/>
                          <a:latin typeface="Calibri" panose="020F0502020204030204" pitchFamily="34" charset="0"/>
                        </a:rPr>
                        <a:t>log_GDP_pc</a:t>
                      </a:r>
                      <a:endParaRPr lang="en-SG" sz="3200" b="1" i="0" u="sng"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a:solidFill>
                            <a:srgbClr val="000000"/>
                          </a:solidFill>
                          <a:effectLst/>
                          <a:latin typeface="Calibri" panose="020F0502020204030204" pitchFamily="34" charset="0"/>
                        </a:rPr>
                        <a:t>0.902949</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0.77806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0.772722</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818136"/>
                  </a:ext>
                </a:extLst>
              </a:tr>
              <a:tr h="1262744">
                <a:tc>
                  <a:txBody>
                    <a:bodyPr/>
                    <a:lstStyle/>
                    <a:p>
                      <a:pPr algn="r" fontAlgn="b">
                        <a:buNone/>
                      </a:pPr>
                      <a:r>
                        <a:rPr lang="en-SG" sz="3200" b="1" i="0" u="sng" strike="noStrike" dirty="0">
                          <a:solidFill>
                            <a:srgbClr val="000000"/>
                          </a:solidFill>
                          <a:effectLst/>
                          <a:latin typeface="Calibri" panose="020F0502020204030204" pitchFamily="34" charset="0"/>
                        </a:rPr>
                        <a:t>LE_0</a:t>
                      </a: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a:solidFill>
                            <a:srgbClr val="000000"/>
                          </a:solidFill>
                          <a:effectLst/>
                          <a:latin typeface="Calibri" panose="020F0502020204030204" pitchFamily="34" charset="0"/>
                        </a:rPr>
                        <a:t>0.699438</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a:solidFill>
                            <a:srgbClr val="000000"/>
                          </a:solidFill>
                          <a:effectLst/>
                          <a:latin typeface="Calibri" panose="020F0502020204030204" pitchFamily="34" charset="0"/>
                        </a:rPr>
                        <a:t>0.77806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0.980876</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5551165"/>
                  </a:ext>
                </a:extLst>
              </a:tr>
              <a:tr h="1262744">
                <a:tc>
                  <a:txBody>
                    <a:bodyPr/>
                    <a:lstStyle/>
                    <a:p>
                      <a:pPr algn="r" fontAlgn="b">
                        <a:buNone/>
                      </a:pPr>
                      <a:r>
                        <a:rPr lang="en-SG" sz="3200" b="1" i="0" u="sng" strike="noStrike" dirty="0">
                          <a:solidFill>
                            <a:srgbClr val="000000"/>
                          </a:solidFill>
                          <a:effectLst/>
                          <a:latin typeface="Calibri" panose="020F0502020204030204" pitchFamily="34" charset="0"/>
                        </a:rPr>
                        <a:t>LE_mean</a:t>
                      </a: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0.714579</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a:solidFill>
                            <a:srgbClr val="000000"/>
                          </a:solidFill>
                          <a:effectLst/>
                          <a:latin typeface="Calibri" panose="020F0502020204030204" pitchFamily="34" charset="0"/>
                        </a:rPr>
                        <a:t>0.772722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0.980876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2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7323761"/>
                  </a:ext>
                </a:extLst>
              </a:tr>
            </a:tbl>
          </a:graphicData>
        </a:graphic>
      </p:graphicFrame>
      <p:sp>
        <p:nvSpPr>
          <p:cNvPr id="16" name="TextBox 15">
            <a:extLst>
              <a:ext uri="{FF2B5EF4-FFF2-40B4-BE49-F238E27FC236}">
                <a16:creationId xmlns:a16="http://schemas.microsoft.com/office/drawing/2014/main" id="{0D839B5B-75B5-33FB-E936-7DF1437451AD}"/>
              </a:ext>
            </a:extLst>
          </p:cNvPr>
          <p:cNvSpPr txBox="1"/>
          <p:nvPr/>
        </p:nvSpPr>
        <p:spPr>
          <a:xfrm>
            <a:off x="11172935" y="818600"/>
            <a:ext cx="6962665" cy="9325630"/>
          </a:xfrm>
          <a:prstGeom prst="rect">
            <a:avLst/>
          </a:prstGeom>
          <a:noFill/>
        </p:spPr>
        <p:txBody>
          <a:bodyPr wrap="square">
            <a:spAutoFit/>
          </a:bodyPr>
          <a:lstStyle/>
          <a:p>
            <a:pPr marL="457200" indent="-457200">
              <a:buFont typeface="Arial" panose="020B0604020202020204" pitchFamily="34" charset="0"/>
              <a:buChar char="•"/>
            </a:pPr>
            <a:r>
              <a:rPr lang="en-US" sz="2800" b="1" dirty="0"/>
              <a:t>GDP and LE₀ are strongly linked</a:t>
            </a:r>
            <a:endParaRPr lang="en-US" sz="2800" dirty="0"/>
          </a:p>
          <a:p>
            <a:pPr marL="914400" lvl="1" indent="-457200">
              <a:buFont typeface="Arial" panose="020B0604020202020204" pitchFamily="34" charset="0"/>
              <a:buChar char="•"/>
            </a:pPr>
            <a:r>
              <a:rPr lang="en-US" sz="2800" dirty="0"/>
              <a:t>Moderate–strong positive correlation (~0.70).</a:t>
            </a:r>
          </a:p>
          <a:p>
            <a:pPr marL="914400" lvl="1" indent="-457200">
              <a:buFont typeface="Arial" panose="020B0604020202020204" pitchFamily="34" charset="0"/>
              <a:buChar char="•"/>
            </a:pPr>
            <a:r>
              <a:rPr lang="en-US" sz="2800" dirty="0"/>
              <a:t>Richer countries generally live longer.</a:t>
            </a:r>
          </a:p>
          <a:p>
            <a:endParaRPr lang="en-US" sz="1000" dirty="0"/>
          </a:p>
          <a:p>
            <a:pPr marL="457200" indent="-457200">
              <a:buFont typeface="Arial" panose="020B0604020202020204" pitchFamily="34" charset="0"/>
              <a:buChar char="•"/>
            </a:pPr>
            <a:r>
              <a:rPr lang="en-US" sz="2800" b="1" dirty="0"/>
              <a:t>Log(GDP) fits the relationship better</a:t>
            </a:r>
            <a:endParaRPr lang="en-US" sz="2800" dirty="0"/>
          </a:p>
          <a:p>
            <a:pPr marL="914400" lvl="1" indent="-457200">
              <a:buFont typeface="Arial" panose="020B0604020202020204" pitchFamily="34" charset="0"/>
              <a:buChar char="•"/>
            </a:pPr>
            <a:r>
              <a:rPr lang="en-US" sz="2800" dirty="0" err="1"/>
              <a:t>log_GDP_pc</a:t>
            </a:r>
            <a:r>
              <a:rPr lang="en-US" sz="2800" dirty="0"/>
              <a:t> correlates more strongly with LE₀ (~0.78).</a:t>
            </a:r>
          </a:p>
          <a:p>
            <a:pPr marL="914400" lvl="1" indent="-457200">
              <a:buFont typeface="Arial" panose="020B0604020202020204" pitchFamily="34" charset="0"/>
              <a:buChar char="•"/>
            </a:pPr>
            <a:r>
              <a:rPr lang="en-US" sz="2800" dirty="0"/>
              <a:t>Supports diminishing returns to income.</a:t>
            </a:r>
          </a:p>
          <a:p>
            <a:endParaRPr lang="en-US" sz="1000" dirty="0"/>
          </a:p>
          <a:p>
            <a:pPr marL="457200" indent="-457200">
              <a:buFont typeface="Arial" panose="020B0604020202020204" pitchFamily="34" charset="0"/>
              <a:buChar char="•"/>
            </a:pPr>
            <a:r>
              <a:rPr lang="en-US" sz="2800" b="1" dirty="0"/>
              <a:t>Life expectancy measures move together</a:t>
            </a:r>
            <a:endParaRPr lang="en-US" sz="2800" dirty="0"/>
          </a:p>
          <a:p>
            <a:pPr marL="914400" lvl="1" indent="-457200">
              <a:buFont typeface="Arial" panose="020B0604020202020204" pitchFamily="34" charset="0"/>
              <a:buChar char="•"/>
            </a:pPr>
            <a:r>
              <a:rPr lang="en-US" sz="2800" dirty="0"/>
              <a:t>LE₀ and </a:t>
            </a:r>
            <a:r>
              <a:rPr lang="en-US" sz="2800" dirty="0" err="1"/>
              <a:t>LE_mean</a:t>
            </a:r>
            <a:r>
              <a:rPr lang="en-US" sz="2800" dirty="0"/>
              <a:t> correlate extremely highly (~0.98).</a:t>
            </a:r>
          </a:p>
          <a:p>
            <a:pPr marL="914400" lvl="1" indent="-457200">
              <a:buFont typeface="Arial" panose="020B0604020202020204" pitchFamily="34" charset="0"/>
              <a:buChar char="•"/>
            </a:pPr>
            <a:r>
              <a:rPr lang="en-US" sz="2800" dirty="0"/>
              <a:t>Better infant survival → better longevity at all ages.</a:t>
            </a:r>
          </a:p>
          <a:p>
            <a:endParaRPr lang="en-US" sz="1000" dirty="0"/>
          </a:p>
          <a:p>
            <a:pPr marL="457200" indent="-457200">
              <a:buFont typeface="Arial" panose="020B0604020202020204" pitchFamily="34" charset="0"/>
              <a:buChar char="•"/>
            </a:pPr>
            <a:r>
              <a:rPr lang="en-US" sz="2800" b="1" dirty="0"/>
              <a:t>GDP variables correlate by design</a:t>
            </a:r>
            <a:endParaRPr lang="en-US" sz="2800" dirty="0"/>
          </a:p>
          <a:p>
            <a:pPr marL="914400" lvl="1" indent="-457200">
              <a:buFont typeface="Arial" panose="020B0604020202020204" pitchFamily="34" charset="0"/>
              <a:buChar char="•"/>
            </a:pPr>
            <a:r>
              <a:rPr lang="en-US" sz="2800" dirty="0" err="1"/>
              <a:t>GDP_pc</a:t>
            </a:r>
            <a:r>
              <a:rPr lang="en-US" sz="2800" dirty="0"/>
              <a:t> and </a:t>
            </a:r>
            <a:r>
              <a:rPr lang="en-US" sz="2800" dirty="0" err="1"/>
              <a:t>log_GDP_pc</a:t>
            </a:r>
            <a:r>
              <a:rPr lang="en-US" sz="2800" dirty="0"/>
              <a:t> ~0.90.</a:t>
            </a:r>
          </a:p>
          <a:p>
            <a:pPr marL="914400" lvl="1" indent="-457200">
              <a:buFont typeface="Arial" panose="020B0604020202020204" pitchFamily="34" charset="0"/>
              <a:buChar char="•"/>
            </a:pPr>
            <a:r>
              <a:rPr lang="en-US" sz="2800" dirty="0"/>
              <a:t>Log is a scaling transformation of the same variable.</a:t>
            </a:r>
          </a:p>
          <a:p>
            <a:endParaRPr lang="en-US" sz="1000" dirty="0"/>
          </a:p>
          <a:p>
            <a:pPr marL="457200" indent="-457200">
              <a:buFont typeface="Arial" panose="020B0604020202020204" pitchFamily="34" charset="0"/>
              <a:buChar char="•"/>
            </a:pPr>
            <a:r>
              <a:rPr lang="en-US" sz="2800" b="1" dirty="0"/>
              <a:t>Correlation ≠ causation</a:t>
            </a:r>
            <a:endParaRPr lang="en-US" sz="2800" dirty="0"/>
          </a:p>
          <a:p>
            <a:pPr marL="914400" lvl="1" indent="-457200">
              <a:buFont typeface="Arial" panose="020B0604020202020204" pitchFamily="34" charset="0"/>
              <a:buChar char="•"/>
            </a:pPr>
            <a:r>
              <a:rPr lang="en-US" sz="2800" dirty="0"/>
              <a:t>Income helps, but health systems, education, and stability also matter.</a:t>
            </a:r>
          </a:p>
        </p:txBody>
      </p:sp>
      <p:graphicFrame>
        <p:nvGraphicFramePr>
          <p:cNvPr id="20" name="Table 19">
            <a:extLst>
              <a:ext uri="{FF2B5EF4-FFF2-40B4-BE49-F238E27FC236}">
                <a16:creationId xmlns:a16="http://schemas.microsoft.com/office/drawing/2014/main" id="{35AC6452-347C-20B3-D3EF-CC54E100A1CA}"/>
              </a:ext>
            </a:extLst>
          </p:cNvPr>
          <p:cNvGraphicFramePr>
            <a:graphicFrameLocks noGrp="1"/>
          </p:cNvGraphicFramePr>
          <p:nvPr>
            <p:extLst>
              <p:ext uri="{D42A27DB-BD31-4B8C-83A1-F6EECF244321}">
                <p14:modId xmlns:p14="http://schemas.microsoft.com/office/powerpoint/2010/main" val="392964367"/>
              </p:ext>
            </p:extLst>
          </p:nvPr>
        </p:nvGraphicFramePr>
        <p:xfrm>
          <a:off x="457200" y="8103425"/>
          <a:ext cx="5293402" cy="1905835"/>
        </p:xfrm>
        <a:graphic>
          <a:graphicData uri="http://schemas.openxmlformats.org/drawingml/2006/table">
            <a:tbl>
              <a:tblPr firstRow="1" bandRow="1">
                <a:tableStyleId>{5C22544A-7EE6-4342-B048-85BDC9FD1C3A}</a:tableStyleId>
              </a:tblPr>
              <a:tblGrid>
                <a:gridCol w="1664986">
                  <a:extLst>
                    <a:ext uri="{9D8B030D-6E8A-4147-A177-3AD203B41FA5}">
                      <a16:colId xmlns:a16="http://schemas.microsoft.com/office/drawing/2014/main" val="4181531197"/>
                    </a:ext>
                  </a:extLst>
                </a:gridCol>
                <a:gridCol w="3628416">
                  <a:extLst>
                    <a:ext uri="{9D8B030D-6E8A-4147-A177-3AD203B41FA5}">
                      <a16:colId xmlns:a16="http://schemas.microsoft.com/office/drawing/2014/main" val="1615102673"/>
                    </a:ext>
                  </a:extLst>
                </a:gridCol>
              </a:tblGrid>
              <a:tr h="4224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Legend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SG"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94547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err="1">
                          <a:solidFill>
                            <a:sysClr val="windowText" lastClr="000000"/>
                          </a:solidFill>
                          <a:effectLst/>
                          <a:latin typeface="Calibri" panose="020F0502020204030204" pitchFamily="34" charset="0"/>
                        </a:rPr>
                        <a:t>GDP_pc</a:t>
                      </a:r>
                      <a:endParaRPr lang="en-SG" sz="1800" b="1" i="0" u="sng" strike="noStrike" dirty="0">
                        <a:solidFill>
                          <a:sysClr val="windowText" lastClr="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Raw GDP per capita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70363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err="1">
                          <a:solidFill>
                            <a:sysClr val="windowText" lastClr="000000"/>
                          </a:solidFill>
                          <a:effectLst/>
                          <a:latin typeface="Calibri" panose="020F0502020204030204" pitchFamily="34" charset="0"/>
                        </a:rPr>
                        <a:t>log_GDP_pc</a:t>
                      </a:r>
                      <a:endParaRPr lang="en-SG" sz="1800" b="1" i="0" u="sng" strike="noStrike" dirty="0">
                        <a:solidFill>
                          <a:sysClr val="windowText" lastClr="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0" dirty="0">
                          <a:solidFill>
                            <a:sysClr val="windowText" lastClr="000000"/>
                          </a:solidFill>
                        </a:rPr>
                        <a:t>Natural Log of GDP per Capita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9290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LE_0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Life Expectancy at birth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3398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LE_mean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Mean Life Expectancy across all 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62973"/>
                  </a:ext>
                </a:extLst>
              </a:tr>
            </a:tbl>
          </a:graphicData>
        </a:graphic>
      </p:graphicFrame>
    </p:spTree>
    <p:extLst>
      <p:ext uri="{BB962C8B-B14F-4D97-AF65-F5344CB8AC3E}">
        <p14:creationId xmlns:p14="http://schemas.microsoft.com/office/powerpoint/2010/main" val="2294943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FDDF0-2EFB-A6D2-06E6-8008AB859EA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0A2C581-5D32-8BB5-5A39-3193BEDD828C}"/>
              </a:ext>
            </a:extLst>
          </p:cNvPr>
          <p:cNvSpPr/>
          <p:nvPr/>
        </p:nvSpPr>
        <p:spPr>
          <a:xfrm rot="5400000">
            <a:off x="9403215" y="1402216"/>
            <a:ext cx="10287000" cy="7482568"/>
          </a:xfrm>
          <a:custGeom>
            <a:avLst/>
            <a:gdLst/>
            <a:ahLst/>
            <a:cxnLst/>
            <a:rect l="l" t="t" r="r" b="b"/>
            <a:pathLst>
              <a:path w="3845413" h="385731">
                <a:moveTo>
                  <a:pt x="0" y="0"/>
                </a:moveTo>
                <a:lnTo>
                  <a:pt x="3845413" y="0"/>
                </a:lnTo>
                <a:lnTo>
                  <a:pt x="3845413" y="385731"/>
                </a:lnTo>
                <a:lnTo>
                  <a:pt x="0" y="385731"/>
                </a:lnTo>
                <a:close/>
              </a:path>
            </a:pathLst>
          </a:custGeom>
          <a:solidFill>
            <a:schemeClr val="bg2"/>
          </a:solidFill>
          <a:ln w="9525" cap="sq">
            <a:noFill/>
            <a:prstDash val="solid"/>
            <a:miter/>
          </a:ln>
        </p:spPr>
        <p:txBody>
          <a:bodyPr/>
          <a:lstStyle/>
          <a:p>
            <a:endParaRPr lang="en-SG"/>
          </a:p>
        </p:txBody>
      </p:sp>
      <p:sp>
        <p:nvSpPr>
          <p:cNvPr id="5" name="TextBox 5">
            <a:extLst>
              <a:ext uri="{FF2B5EF4-FFF2-40B4-BE49-F238E27FC236}">
                <a16:creationId xmlns:a16="http://schemas.microsoft.com/office/drawing/2014/main" id="{955F2AB4-186D-893C-4B89-1EC6BD74E56C}"/>
              </a:ext>
            </a:extLst>
          </p:cNvPr>
          <p:cNvSpPr txBox="1"/>
          <p:nvPr/>
        </p:nvSpPr>
        <p:spPr>
          <a:xfrm>
            <a:off x="457200" y="395008"/>
            <a:ext cx="11808726" cy="135421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a:p>
            <a:r>
              <a:rPr lang="en-SG" sz="4800" dirty="0"/>
              <a:t>Correlation Spearmen</a:t>
            </a:r>
          </a:p>
        </p:txBody>
      </p:sp>
      <p:sp>
        <p:nvSpPr>
          <p:cNvPr id="6" name="TextBox 6">
            <a:extLst>
              <a:ext uri="{FF2B5EF4-FFF2-40B4-BE49-F238E27FC236}">
                <a16:creationId xmlns:a16="http://schemas.microsoft.com/office/drawing/2014/main" id="{0B60B6CD-DEDA-F8A7-8B08-3D984B4FD6BC}"/>
              </a:ext>
            </a:extLst>
          </p:cNvPr>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graphicFrame>
        <p:nvGraphicFramePr>
          <p:cNvPr id="8" name="Table 7">
            <a:extLst>
              <a:ext uri="{FF2B5EF4-FFF2-40B4-BE49-F238E27FC236}">
                <a16:creationId xmlns:a16="http://schemas.microsoft.com/office/drawing/2014/main" id="{BCB7EFFD-B60A-6F0E-CC3D-6A2FEE2DC081}"/>
              </a:ext>
            </a:extLst>
          </p:cNvPr>
          <p:cNvGraphicFramePr>
            <a:graphicFrameLocks noGrp="1"/>
          </p:cNvGraphicFramePr>
          <p:nvPr>
            <p:extLst>
              <p:ext uri="{D42A27DB-BD31-4B8C-83A1-F6EECF244321}">
                <p14:modId xmlns:p14="http://schemas.microsoft.com/office/powerpoint/2010/main" val="2081172977"/>
              </p:ext>
            </p:extLst>
          </p:nvPr>
        </p:nvGraphicFramePr>
        <p:xfrm>
          <a:off x="457200" y="1749225"/>
          <a:ext cx="9996713" cy="6095910"/>
        </p:xfrm>
        <a:graphic>
          <a:graphicData uri="http://schemas.openxmlformats.org/drawingml/2006/table">
            <a:tbl>
              <a:tblPr/>
              <a:tblGrid>
                <a:gridCol w="2287449">
                  <a:extLst>
                    <a:ext uri="{9D8B030D-6E8A-4147-A177-3AD203B41FA5}">
                      <a16:colId xmlns:a16="http://schemas.microsoft.com/office/drawing/2014/main" val="4174179207"/>
                    </a:ext>
                  </a:extLst>
                </a:gridCol>
                <a:gridCol w="1755709">
                  <a:extLst>
                    <a:ext uri="{9D8B030D-6E8A-4147-A177-3AD203B41FA5}">
                      <a16:colId xmlns:a16="http://schemas.microsoft.com/office/drawing/2014/main" val="3955868528"/>
                    </a:ext>
                  </a:extLst>
                </a:gridCol>
                <a:gridCol w="2287449">
                  <a:extLst>
                    <a:ext uri="{9D8B030D-6E8A-4147-A177-3AD203B41FA5}">
                      <a16:colId xmlns:a16="http://schemas.microsoft.com/office/drawing/2014/main" val="694006623"/>
                    </a:ext>
                  </a:extLst>
                </a:gridCol>
                <a:gridCol w="1789646">
                  <a:extLst>
                    <a:ext uri="{9D8B030D-6E8A-4147-A177-3AD203B41FA5}">
                      <a16:colId xmlns:a16="http://schemas.microsoft.com/office/drawing/2014/main" val="872819650"/>
                    </a:ext>
                  </a:extLst>
                </a:gridCol>
                <a:gridCol w="1876460">
                  <a:extLst>
                    <a:ext uri="{9D8B030D-6E8A-4147-A177-3AD203B41FA5}">
                      <a16:colId xmlns:a16="http://schemas.microsoft.com/office/drawing/2014/main" val="1037048804"/>
                    </a:ext>
                  </a:extLst>
                </a:gridCol>
              </a:tblGrid>
              <a:tr h="924544">
                <a:tc>
                  <a:txBody>
                    <a:bodyPr/>
                    <a:lstStyle/>
                    <a:p>
                      <a:pPr algn="ctr" fontAlgn="b">
                        <a:buNone/>
                      </a:pPr>
                      <a:endParaRPr lang="en-SG" sz="3600" b="0"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err="1">
                          <a:solidFill>
                            <a:srgbClr val="000000"/>
                          </a:solidFill>
                          <a:effectLst/>
                          <a:latin typeface="Calibri" panose="020F0502020204030204" pitchFamily="34" charset="0"/>
                        </a:rPr>
                        <a:t>GDP_pc</a:t>
                      </a:r>
                      <a:endParaRPr lang="en-SG" sz="3600" b="0"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err="1">
                          <a:solidFill>
                            <a:srgbClr val="000000"/>
                          </a:solidFill>
                          <a:effectLst/>
                          <a:latin typeface="Calibri" panose="020F0502020204030204" pitchFamily="34" charset="0"/>
                        </a:rPr>
                        <a:t>log_GDP_pc</a:t>
                      </a:r>
                      <a:endParaRPr lang="en-SG" sz="3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LE_0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LE_mean</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6927374"/>
                  </a:ext>
                </a:extLst>
              </a:tr>
              <a:tr h="1262744">
                <a:tc>
                  <a:txBody>
                    <a:bodyPr/>
                    <a:lstStyle/>
                    <a:p>
                      <a:pPr algn="r" fontAlgn="b">
                        <a:buNone/>
                      </a:pPr>
                      <a:r>
                        <a:rPr lang="en-SG" sz="3600" b="0" i="0" u="none" strike="noStrike" dirty="0" err="1">
                          <a:solidFill>
                            <a:srgbClr val="000000"/>
                          </a:solidFill>
                          <a:effectLst/>
                          <a:latin typeface="Calibri" panose="020F0502020204030204" pitchFamily="34" charset="0"/>
                        </a:rPr>
                        <a:t>GDP_pc</a:t>
                      </a:r>
                      <a:endParaRPr lang="en-SG" sz="3600" b="0"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1</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a:solidFill>
                            <a:srgbClr val="000000"/>
                          </a:solidFill>
                          <a:effectLst/>
                          <a:latin typeface="Calibri" panose="020F0502020204030204" pitchFamily="34" charset="0"/>
                        </a:rPr>
                        <a:t>0.804817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0.790763</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0573028"/>
                  </a:ext>
                </a:extLst>
              </a:tr>
              <a:tr h="1383134">
                <a:tc>
                  <a:txBody>
                    <a:bodyPr/>
                    <a:lstStyle/>
                    <a:p>
                      <a:pPr algn="r" fontAlgn="b">
                        <a:buNone/>
                      </a:pPr>
                      <a:r>
                        <a:rPr lang="en-SG" sz="3600" b="0" i="0" u="none" strike="noStrike" dirty="0" err="1">
                          <a:solidFill>
                            <a:srgbClr val="000000"/>
                          </a:solidFill>
                          <a:effectLst/>
                          <a:latin typeface="Calibri" panose="020F0502020204030204" pitchFamily="34" charset="0"/>
                        </a:rPr>
                        <a:t>log_GDP_pc</a:t>
                      </a:r>
                      <a:endParaRPr lang="en-SG" sz="3600" b="0"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1</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0.804817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0.790763</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818136"/>
                  </a:ext>
                </a:extLst>
              </a:tr>
              <a:tr h="1262744">
                <a:tc>
                  <a:txBody>
                    <a:bodyPr/>
                    <a:lstStyle/>
                    <a:p>
                      <a:pPr algn="r" fontAlgn="b">
                        <a:buNone/>
                      </a:pPr>
                      <a:r>
                        <a:rPr lang="en-SG" sz="3600" b="0" i="0" u="none" strike="noStrike" dirty="0">
                          <a:solidFill>
                            <a:srgbClr val="000000"/>
                          </a:solidFill>
                          <a:effectLst/>
                          <a:latin typeface="Calibri" panose="020F0502020204030204" pitchFamily="34" charset="0"/>
                        </a:rPr>
                        <a:t>LE_0</a:t>
                      </a: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a:solidFill>
                            <a:srgbClr val="000000"/>
                          </a:solidFill>
                          <a:effectLst/>
                          <a:latin typeface="Calibri" panose="020F0502020204030204" pitchFamily="34" charset="0"/>
                        </a:rPr>
                        <a:t>0.804817</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a:solidFill>
                            <a:srgbClr val="000000"/>
                          </a:solidFill>
                          <a:effectLst/>
                          <a:latin typeface="Calibri" panose="020F0502020204030204" pitchFamily="34" charset="0"/>
                        </a:rPr>
                        <a:t>0.804817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0.990084</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5551165"/>
                  </a:ext>
                </a:extLst>
              </a:tr>
              <a:tr h="1262744">
                <a:tc>
                  <a:txBody>
                    <a:bodyPr/>
                    <a:lstStyle/>
                    <a:p>
                      <a:pPr algn="r" fontAlgn="b">
                        <a:buNone/>
                      </a:pPr>
                      <a:r>
                        <a:rPr lang="en-SG" sz="3600" b="0" i="0" u="none" strike="noStrike" dirty="0">
                          <a:solidFill>
                            <a:srgbClr val="000000"/>
                          </a:solidFill>
                          <a:effectLst/>
                          <a:latin typeface="Calibri" panose="020F0502020204030204" pitchFamily="34" charset="0"/>
                        </a:rPr>
                        <a:t>LE_mean</a:t>
                      </a:r>
                    </a:p>
                  </a:txBody>
                  <a:tcPr marL="9525" marR="9525" marT="9525"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a:solidFill>
                            <a:srgbClr val="000000"/>
                          </a:solidFill>
                          <a:effectLst/>
                          <a:latin typeface="Calibri" panose="020F0502020204030204" pitchFamily="34" charset="0"/>
                        </a:rPr>
                        <a:t>0.790763</a:t>
                      </a:r>
                    </a:p>
                  </a:txBody>
                  <a:tcPr marL="9525" marR="9525" marT="9525"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0.790763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0.990084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SG" sz="36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7323761"/>
                  </a:ext>
                </a:extLst>
              </a:tr>
            </a:tbl>
          </a:graphicData>
        </a:graphic>
      </p:graphicFrame>
      <p:graphicFrame>
        <p:nvGraphicFramePr>
          <p:cNvPr id="20" name="Table 19">
            <a:extLst>
              <a:ext uri="{FF2B5EF4-FFF2-40B4-BE49-F238E27FC236}">
                <a16:creationId xmlns:a16="http://schemas.microsoft.com/office/drawing/2014/main" id="{977168C4-E7C9-D819-6F7D-CF342B1AD077}"/>
              </a:ext>
            </a:extLst>
          </p:cNvPr>
          <p:cNvGraphicFramePr>
            <a:graphicFrameLocks noGrp="1"/>
          </p:cNvGraphicFramePr>
          <p:nvPr>
            <p:extLst>
              <p:ext uri="{D42A27DB-BD31-4B8C-83A1-F6EECF244321}">
                <p14:modId xmlns:p14="http://schemas.microsoft.com/office/powerpoint/2010/main" val="2886623077"/>
              </p:ext>
            </p:extLst>
          </p:nvPr>
        </p:nvGraphicFramePr>
        <p:xfrm>
          <a:off x="457200" y="8115300"/>
          <a:ext cx="5293402" cy="1854200"/>
        </p:xfrm>
        <a:graphic>
          <a:graphicData uri="http://schemas.openxmlformats.org/drawingml/2006/table">
            <a:tbl>
              <a:tblPr firstRow="1" bandRow="1">
                <a:tableStyleId>{5C22544A-7EE6-4342-B048-85BDC9FD1C3A}</a:tableStyleId>
              </a:tblPr>
              <a:tblGrid>
                <a:gridCol w="1664986">
                  <a:extLst>
                    <a:ext uri="{9D8B030D-6E8A-4147-A177-3AD203B41FA5}">
                      <a16:colId xmlns:a16="http://schemas.microsoft.com/office/drawing/2014/main" val="4181531197"/>
                    </a:ext>
                  </a:extLst>
                </a:gridCol>
                <a:gridCol w="3628416">
                  <a:extLst>
                    <a:ext uri="{9D8B030D-6E8A-4147-A177-3AD203B41FA5}">
                      <a16:colId xmlns:a16="http://schemas.microsoft.com/office/drawing/2014/main" val="1615102673"/>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Legend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SG"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94547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err="1">
                          <a:solidFill>
                            <a:sysClr val="windowText" lastClr="000000"/>
                          </a:solidFill>
                          <a:effectLst/>
                          <a:latin typeface="Calibri" panose="020F0502020204030204" pitchFamily="34" charset="0"/>
                        </a:rPr>
                        <a:t>GDP_pc</a:t>
                      </a:r>
                      <a:endParaRPr lang="en-SG" sz="1800" b="1" i="0" u="sng" strike="noStrike" dirty="0">
                        <a:solidFill>
                          <a:sysClr val="windowText" lastClr="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Raw GDP per capita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70363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err="1">
                          <a:solidFill>
                            <a:sysClr val="windowText" lastClr="000000"/>
                          </a:solidFill>
                          <a:effectLst/>
                          <a:latin typeface="Calibri" panose="020F0502020204030204" pitchFamily="34" charset="0"/>
                        </a:rPr>
                        <a:t>log_GDP_pc</a:t>
                      </a:r>
                      <a:endParaRPr lang="en-SG" sz="1800" b="1" i="0" u="sng" strike="noStrike" dirty="0">
                        <a:solidFill>
                          <a:sysClr val="windowText" lastClr="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0" dirty="0">
                          <a:solidFill>
                            <a:sysClr val="windowText" lastClr="000000"/>
                          </a:solidFill>
                        </a:rPr>
                        <a:t>Natural Log of GDP per Capita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9290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LE_0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Life Expectancy at birth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3398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i="0" u="sng" strike="noStrike" dirty="0">
                          <a:solidFill>
                            <a:sysClr val="windowText" lastClr="000000"/>
                          </a:solidFill>
                          <a:effectLst/>
                          <a:latin typeface="Calibri" panose="020F0502020204030204" pitchFamily="34" charset="0"/>
                        </a:rPr>
                        <a:t>LE_mean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b="0" dirty="0">
                          <a:solidFill>
                            <a:sysClr val="windowText" lastClr="000000"/>
                          </a:solidFill>
                        </a:rPr>
                        <a:t>Mean Life Expectancy across all 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62973"/>
                  </a:ext>
                </a:extLst>
              </a:tr>
            </a:tbl>
          </a:graphicData>
        </a:graphic>
      </p:graphicFrame>
      <p:sp>
        <p:nvSpPr>
          <p:cNvPr id="4" name="TextBox 3">
            <a:extLst>
              <a:ext uri="{FF2B5EF4-FFF2-40B4-BE49-F238E27FC236}">
                <a16:creationId xmlns:a16="http://schemas.microsoft.com/office/drawing/2014/main" id="{5732101E-885A-4FC3-2EF5-CA5DADE1C1BB}"/>
              </a:ext>
            </a:extLst>
          </p:cNvPr>
          <p:cNvSpPr txBox="1"/>
          <p:nvPr/>
        </p:nvSpPr>
        <p:spPr>
          <a:xfrm>
            <a:off x="11079615" y="1128191"/>
            <a:ext cx="6934200" cy="8710077"/>
          </a:xfrm>
          <a:prstGeom prst="rect">
            <a:avLst/>
          </a:prstGeom>
          <a:noFill/>
        </p:spPr>
        <p:txBody>
          <a:bodyPr wrap="square">
            <a:spAutoFit/>
          </a:bodyPr>
          <a:lstStyle/>
          <a:p>
            <a:pPr>
              <a:buNone/>
            </a:pPr>
            <a:r>
              <a:rPr lang="en-US" sz="2800" b="1" dirty="0"/>
              <a:t>1. </a:t>
            </a:r>
            <a:r>
              <a:rPr lang="en-SG" sz="2800" b="1" dirty="0"/>
              <a:t>Strong monotonic link</a:t>
            </a:r>
            <a:endParaRPr lang="en-US" sz="2800" b="1" dirty="0"/>
          </a:p>
          <a:p>
            <a:pPr>
              <a:buFont typeface="Arial" panose="020B0604020202020204" pitchFamily="34" charset="0"/>
              <a:buChar char="•"/>
            </a:pPr>
            <a:r>
              <a:rPr lang="en-US" sz="2800" dirty="0"/>
              <a:t>Higher-income countries consistently rank higher in life expectancy. (~0.80).</a:t>
            </a:r>
          </a:p>
          <a:p>
            <a:endParaRPr lang="en-US" sz="2800" dirty="0"/>
          </a:p>
          <a:p>
            <a:pPr>
              <a:buNone/>
            </a:pPr>
            <a:r>
              <a:rPr lang="en-US" sz="2800" b="1" dirty="0"/>
              <a:t>2. </a:t>
            </a:r>
            <a:r>
              <a:rPr lang="en-SG" sz="2800" b="1" dirty="0"/>
              <a:t>Log(GDP) aligns well:</a:t>
            </a:r>
          </a:p>
          <a:p>
            <a:pPr>
              <a:buNone/>
            </a:pPr>
            <a:r>
              <a:rPr lang="en-US" sz="2800" dirty="0" err="1"/>
              <a:t>log_GDP_pc</a:t>
            </a:r>
            <a:r>
              <a:rPr lang="en-US" sz="2800" dirty="0"/>
              <a:t>–LE₀ correlation is identical (~0.80).</a:t>
            </a:r>
          </a:p>
          <a:p>
            <a:r>
              <a:rPr lang="en-US" sz="2800" dirty="0"/>
              <a:t>Reinforces that </a:t>
            </a:r>
            <a:r>
              <a:rPr lang="en-US" sz="2800" i="1" dirty="0"/>
              <a:t>relative</a:t>
            </a:r>
            <a:r>
              <a:rPr lang="en-US" sz="2800" dirty="0"/>
              <a:t> income differences track life expectancy well.</a:t>
            </a:r>
          </a:p>
          <a:p>
            <a:endParaRPr lang="en-US" sz="2800" dirty="0"/>
          </a:p>
          <a:p>
            <a:pPr>
              <a:buNone/>
            </a:pPr>
            <a:r>
              <a:rPr lang="en-US" sz="2800" b="1" dirty="0"/>
              <a:t>3. Life expectancy measures move together</a:t>
            </a:r>
          </a:p>
          <a:p>
            <a:pPr>
              <a:buNone/>
            </a:pPr>
            <a:r>
              <a:rPr lang="en-SG" sz="2800" dirty="0"/>
              <a:t>LE₀ ≈ LE_mean (≈0.99).</a:t>
            </a:r>
          </a:p>
          <a:p>
            <a:pPr>
              <a:buNone/>
            </a:pPr>
            <a:endParaRPr lang="en-US" sz="2800" b="1" dirty="0"/>
          </a:p>
          <a:p>
            <a:pPr>
              <a:buNone/>
            </a:pPr>
            <a:r>
              <a:rPr lang="en-US" sz="2800" b="1" dirty="0"/>
              <a:t>4. </a:t>
            </a:r>
            <a:r>
              <a:rPr lang="en-SG" sz="2800" b="1" dirty="0"/>
              <a:t>GDP variables rank identically:</a:t>
            </a:r>
            <a:endParaRPr lang="en-US" sz="2800" b="1" dirty="0"/>
          </a:p>
          <a:p>
            <a:pPr>
              <a:buFont typeface="Arial" panose="020B0604020202020204" pitchFamily="34" charset="0"/>
              <a:buChar char="•"/>
            </a:pPr>
            <a:r>
              <a:rPr lang="en-US" sz="2800" dirty="0" err="1"/>
              <a:t>GDP_pc</a:t>
            </a:r>
            <a:r>
              <a:rPr lang="en-US" sz="2800" dirty="0"/>
              <a:t> &amp; </a:t>
            </a:r>
            <a:r>
              <a:rPr lang="en-US" sz="2800" dirty="0" err="1"/>
              <a:t>log_GDP_pc</a:t>
            </a:r>
            <a:r>
              <a:rPr lang="en-US" sz="2800" dirty="0"/>
              <a:t> have perfect monotonic correlation (=1).</a:t>
            </a:r>
          </a:p>
          <a:p>
            <a:pPr>
              <a:buFont typeface="Arial" panose="020B0604020202020204" pitchFamily="34" charset="0"/>
              <a:buChar char="•"/>
            </a:pPr>
            <a:r>
              <a:rPr lang="en-US" sz="2800" dirty="0"/>
              <a:t>Log transform changes scale, not ordering.</a:t>
            </a:r>
          </a:p>
          <a:p>
            <a:pPr>
              <a:buFont typeface="Arial" panose="020B0604020202020204" pitchFamily="34" charset="0"/>
              <a:buChar char="•"/>
            </a:pPr>
            <a:endParaRPr lang="en-US" sz="2800" dirty="0"/>
          </a:p>
          <a:p>
            <a:pPr>
              <a:buNone/>
            </a:pPr>
            <a:r>
              <a:rPr lang="en-US" sz="2800" b="1" dirty="0"/>
              <a:t>5. Spearman confirms robustness</a:t>
            </a:r>
            <a:endParaRPr lang="en-US" sz="2800" dirty="0"/>
          </a:p>
          <a:p>
            <a:pPr>
              <a:buFont typeface="Arial" panose="020B0604020202020204" pitchFamily="34" charset="0"/>
              <a:buChar char="•"/>
            </a:pPr>
            <a:r>
              <a:rPr lang="en-US" sz="2800" dirty="0"/>
              <a:t>Not driven by outliers; trend holds in ranks.</a:t>
            </a:r>
          </a:p>
        </p:txBody>
      </p:sp>
    </p:spTree>
    <p:extLst>
      <p:ext uri="{BB962C8B-B14F-4D97-AF65-F5344CB8AC3E}">
        <p14:creationId xmlns:p14="http://schemas.microsoft.com/office/powerpoint/2010/main" val="3477401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15DCE-E087-34A6-C926-D699AABB877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DAED049-D47B-5242-FD7E-E631E679308C}"/>
              </a:ext>
            </a:extLst>
          </p:cNvPr>
          <p:cNvGrpSpPr/>
          <p:nvPr/>
        </p:nvGrpSpPr>
        <p:grpSpPr>
          <a:xfrm rot="5400000">
            <a:off x="12432431" y="4605338"/>
            <a:ext cx="10730064" cy="1076325"/>
            <a:chOff x="0" y="0"/>
            <a:chExt cx="3845413" cy="385731"/>
          </a:xfrm>
        </p:grpSpPr>
        <p:sp>
          <p:nvSpPr>
            <p:cNvPr id="3" name="Freeform 3">
              <a:extLst>
                <a:ext uri="{FF2B5EF4-FFF2-40B4-BE49-F238E27FC236}">
                  <a16:creationId xmlns:a16="http://schemas.microsoft.com/office/drawing/2014/main" id="{020E8D77-C0A3-01BF-83D4-6BDED4CAB3C2}"/>
                </a:ext>
              </a:extLst>
            </p:cNvPr>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a:extLst>
                <a:ext uri="{FF2B5EF4-FFF2-40B4-BE49-F238E27FC236}">
                  <a16:creationId xmlns:a16="http://schemas.microsoft.com/office/drawing/2014/main" id="{7151A45A-72C5-783E-63D0-B6CD16DCD4BF}"/>
                </a:ext>
              </a:extLst>
            </p:cNvPr>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7" name="TextBox 7">
            <a:extLst>
              <a:ext uri="{FF2B5EF4-FFF2-40B4-BE49-F238E27FC236}">
                <a16:creationId xmlns:a16="http://schemas.microsoft.com/office/drawing/2014/main" id="{F60A6928-2871-6D8C-2854-3E28D10DFD81}"/>
              </a:ext>
            </a:extLst>
          </p:cNvPr>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
        <p:nvSpPr>
          <p:cNvPr id="10" name="TextBox 5">
            <a:extLst>
              <a:ext uri="{FF2B5EF4-FFF2-40B4-BE49-F238E27FC236}">
                <a16:creationId xmlns:a16="http://schemas.microsoft.com/office/drawing/2014/main" id="{1B780BA7-22A7-6F0B-B1DD-57127F0777FA}"/>
              </a:ext>
            </a:extLst>
          </p:cNvPr>
          <p:cNvSpPr txBox="1"/>
          <p:nvPr/>
        </p:nvSpPr>
        <p:spPr>
          <a:xfrm>
            <a:off x="457200" y="395008"/>
            <a:ext cx="11808726" cy="63055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p:txBody>
      </p:sp>
      <p:pic>
        <p:nvPicPr>
          <p:cNvPr id="8" name="Picture 7">
            <a:extLst>
              <a:ext uri="{FF2B5EF4-FFF2-40B4-BE49-F238E27FC236}">
                <a16:creationId xmlns:a16="http://schemas.microsoft.com/office/drawing/2014/main" id="{B1B3B2D6-CF97-FEF5-3B31-D3672887FF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876300"/>
            <a:ext cx="13182600" cy="9227820"/>
          </a:xfrm>
          <a:prstGeom prst="rect">
            <a:avLst/>
          </a:prstGeom>
        </p:spPr>
      </p:pic>
    </p:spTree>
    <p:extLst>
      <p:ext uri="{BB962C8B-B14F-4D97-AF65-F5344CB8AC3E}">
        <p14:creationId xmlns:p14="http://schemas.microsoft.com/office/powerpoint/2010/main" val="615136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27B5A-464A-331B-E8A0-CA48CB9FAC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9E3936E-712E-A59D-9202-BE03CC6070EF}"/>
              </a:ext>
            </a:extLst>
          </p:cNvPr>
          <p:cNvGrpSpPr/>
          <p:nvPr/>
        </p:nvGrpSpPr>
        <p:grpSpPr>
          <a:xfrm rot="5400000">
            <a:off x="12432431" y="4605338"/>
            <a:ext cx="10730064" cy="1076325"/>
            <a:chOff x="0" y="0"/>
            <a:chExt cx="3845413" cy="385731"/>
          </a:xfrm>
        </p:grpSpPr>
        <p:sp>
          <p:nvSpPr>
            <p:cNvPr id="3" name="Freeform 3">
              <a:extLst>
                <a:ext uri="{FF2B5EF4-FFF2-40B4-BE49-F238E27FC236}">
                  <a16:creationId xmlns:a16="http://schemas.microsoft.com/office/drawing/2014/main" id="{AFD58D94-C43E-1C13-2FB3-05225321DBE0}"/>
                </a:ext>
              </a:extLst>
            </p:cNvPr>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a:extLst>
                <a:ext uri="{FF2B5EF4-FFF2-40B4-BE49-F238E27FC236}">
                  <a16:creationId xmlns:a16="http://schemas.microsoft.com/office/drawing/2014/main" id="{7C45457C-219E-2132-AE4F-5211AEDA9110}"/>
                </a:ext>
              </a:extLst>
            </p:cNvPr>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7" name="TextBox 7">
            <a:extLst>
              <a:ext uri="{FF2B5EF4-FFF2-40B4-BE49-F238E27FC236}">
                <a16:creationId xmlns:a16="http://schemas.microsoft.com/office/drawing/2014/main" id="{99BD3AAF-D59F-3342-B8E8-CE0FBBB03DE6}"/>
              </a:ext>
            </a:extLst>
          </p:cNvPr>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
        <p:nvSpPr>
          <p:cNvPr id="10" name="TextBox 5">
            <a:extLst>
              <a:ext uri="{FF2B5EF4-FFF2-40B4-BE49-F238E27FC236}">
                <a16:creationId xmlns:a16="http://schemas.microsoft.com/office/drawing/2014/main" id="{7DA997E2-4576-3454-7977-46FCBC646800}"/>
              </a:ext>
            </a:extLst>
          </p:cNvPr>
          <p:cNvSpPr txBox="1"/>
          <p:nvPr/>
        </p:nvSpPr>
        <p:spPr>
          <a:xfrm>
            <a:off x="457200" y="395008"/>
            <a:ext cx="11808726" cy="63055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p:txBody>
      </p:sp>
      <p:pic>
        <p:nvPicPr>
          <p:cNvPr id="6" name="Picture 5">
            <a:extLst>
              <a:ext uri="{FF2B5EF4-FFF2-40B4-BE49-F238E27FC236}">
                <a16:creationId xmlns:a16="http://schemas.microsoft.com/office/drawing/2014/main" id="{E666EC2E-8ED6-371E-36E1-A1BEAA7798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025565"/>
            <a:ext cx="13639800" cy="9547860"/>
          </a:xfrm>
          <a:prstGeom prst="rect">
            <a:avLst/>
          </a:prstGeom>
        </p:spPr>
      </p:pic>
    </p:spTree>
    <p:extLst>
      <p:ext uri="{BB962C8B-B14F-4D97-AF65-F5344CB8AC3E}">
        <p14:creationId xmlns:p14="http://schemas.microsoft.com/office/powerpoint/2010/main" val="3314711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32431" y="4605338"/>
            <a:ext cx="10730064" cy="1076325"/>
            <a:chOff x="0" y="0"/>
            <a:chExt cx="3845413" cy="385731"/>
          </a:xfrm>
        </p:grpSpPr>
        <p:sp>
          <p:nvSpPr>
            <p:cNvPr id="3" name="Freeform 3"/>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457200" y="1025565"/>
            <a:ext cx="11658600" cy="8894512"/>
          </a:xfrm>
          <a:custGeom>
            <a:avLst/>
            <a:gdLst/>
            <a:ahLst/>
            <a:cxnLst/>
            <a:rect l="l" t="t" r="r" b="b"/>
            <a:pathLst>
              <a:path w="10705333" h="8042382">
                <a:moveTo>
                  <a:pt x="0" y="0"/>
                </a:moveTo>
                <a:lnTo>
                  <a:pt x="10705333" y="0"/>
                </a:lnTo>
                <a:lnTo>
                  <a:pt x="10705333" y="8042382"/>
                </a:lnTo>
                <a:lnTo>
                  <a:pt x="0" y="8042382"/>
                </a:lnTo>
                <a:lnTo>
                  <a:pt x="0" y="0"/>
                </a:lnTo>
                <a:close/>
              </a:path>
            </a:pathLst>
          </a:custGeom>
          <a:blipFill>
            <a:blip r:embed="rId2"/>
            <a:stretch>
              <a:fillRect/>
            </a:stretch>
          </a:blipFill>
        </p:spPr>
        <p:txBody>
          <a:bodyPr/>
          <a:lstStyle/>
          <a:p>
            <a:endParaRPr lang="en-SG"/>
          </a:p>
        </p:txBody>
      </p:sp>
      <p:sp>
        <p:nvSpPr>
          <p:cNvPr id="7" name="TextBox 7"/>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
        <p:nvSpPr>
          <p:cNvPr id="10" name="TextBox 5">
            <a:extLst>
              <a:ext uri="{FF2B5EF4-FFF2-40B4-BE49-F238E27FC236}">
                <a16:creationId xmlns:a16="http://schemas.microsoft.com/office/drawing/2014/main" id="{BA507336-E8AD-A25E-0ED9-4400AFBAF44F}"/>
              </a:ext>
            </a:extLst>
          </p:cNvPr>
          <p:cNvSpPr txBox="1"/>
          <p:nvPr/>
        </p:nvSpPr>
        <p:spPr>
          <a:xfrm>
            <a:off x="457200" y="395008"/>
            <a:ext cx="11808726" cy="63055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32431" y="4605338"/>
            <a:ext cx="10730064" cy="1076325"/>
            <a:chOff x="0" y="0"/>
            <a:chExt cx="3845413" cy="385731"/>
          </a:xfrm>
        </p:grpSpPr>
        <p:sp>
          <p:nvSpPr>
            <p:cNvPr id="3" name="Freeform 3"/>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457200" y="1025564"/>
            <a:ext cx="12573000" cy="8866427"/>
          </a:xfrm>
          <a:custGeom>
            <a:avLst/>
            <a:gdLst/>
            <a:ahLst/>
            <a:cxnLst/>
            <a:rect l="l" t="t" r="r" b="b"/>
            <a:pathLst>
              <a:path w="11721338" h="7809341">
                <a:moveTo>
                  <a:pt x="0" y="0"/>
                </a:moveTo>
                <a:lnTo>
                  <a:pt x="11721338" y="0"/>
                </a:lnTo>
                <a:lnTo>
                  <a:pt x="11721338" y="7809341"/>
                </a:lnTo>
                <a:lnTo>
                  <a:pt x="0" y="7809341"/>
                </a:lnTo>
                <a:lnTo>
                  <a:pt x="0" y="0"/>
                </a:lnTo>
                <a:close/>
              </a:path>
            </a:pathLst>
          </a:custGeom>
          <a:blipFill>
            <a:blip r:embed="rId2"/>
            <a:stretch>
              <a:fillRect/>
            </a:stretch>
          </a:blipFill>
        </p:spPr>
        <p:txBody>
          <a:bodyPr/>
          <a:lstStyle/>
          <a:p>
            <a:endParaRPr lang="en-SG"/>
          </a:p>
        </p:txBody>
      </p:sp>
      <p:sp>
        <p:nvSpPr>
          <p:cNvPr id="7" name="TextBox 7"/>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
        <p:nvSpPr>
          <p:cNvPr id="8" name="TextBox 5">
            <a:extLst>
              <a:ext uri="{FF2B5EF4-FFF2-40B4-BE49-F238E27FC236}">
                <a16:creationId xmlns:a16="http://schemas.microsoft.com/office/drawing/2014/main" id="{0CE38044-0D90-8781-96AF-A36C2DE4501E}"/>
              </a:ext>
            </a:extLst>
          </p:cNvPr>
          <p:cNvSpPr txBox="1"/>
          <p:nvPr/>
        </p:nvSpPr>
        <p:spPr>
          <a:xfrm>
            <a:off x="457200" y="395008"/>
            <a:ext cx="11808726" cy="63055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6773D-0B59-7A84-E22B-ACA2BAF5CAA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EB21135-F365-E5EC-7728-8D61FE4F2696}"/>
              </a:ext>
            </a:extLst>
          </p:cNvPr>
          <p:cNvGrpSpPr/>
          <p:nvPr/>
        </p:nvGrpSpPr>
        <p:grpSpPr>
          <a:xfrm rot="5400000">
            <a:off x="12432431" y="4605338"/>
            <a:ext cx="10730064" cy="1076325"/>
            <a:chOff x="0" y="0"/>
            <a:chExt cx="3845413" cy="385731"/>
          </a:xfrm>
        </p:grpSpPr>
        <p:sp>
          <p:nvSpPr>
            <p:cNvPr id="3" name="Freeform 3">
              <a:extLst>
                <a:ext uri="{FF2B5EF4-FFF2-40B4-BE49-F238E27FC236}">
                  <a16:creationId xmlns:a16="http://schemas.microsoft.com/office/drawing/2014/main" id="{BA783B1D-2016-E204-6F9B-2DA055259285}"/>
                </a:ext>
              </a:extLst>
            </p:cNvPr>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a:extLst>
                <a:ext uri="{FF2B5EF4-FFF2-40B4-BE49-F238E27FC236}">
                  <a16:creationId xmlns:a16="http://schemas.microsoft.com/office/drawing/2014/main" id="{06457EC7-A869-6539-0998-1E0AB1461ACA}"/>
                </a:ext>
              </a:extLst>
            </p:cNvPr>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7" name="TextBox 7">
            <a:extLst>
              <a:ext uri="{FF2B5EF4-FFF2-40B4-BE49-F238E27FC236}">
                <a16:creationId xmlns:a16="http://schemas.microsoft.com/office/drawing/2014/main" id="{7EC5AB8C-7176-A49F-E929-7184D4800D6C}"/>
              </a:ext>
            </a:extLst>
          </p:cNvPr>
          <p:cNvSpPr txBox="1"/>
          <p:nvPr/>
        </p:nvSpPr>
        <p:spPr>
          <a:xfrm>
            <a:off x="14151478" y="372754"/>
            <a:ext cx="2850172" cy="306705"/>
          </a:xfrm>
          <a:prstGeom prst="rect">
            <a:avLst/>
          </a:prstGeom>
        </p:spPr>
        <p:txBody>
          <a:bodyPr lIns="0" tIns="0" rIns="0" bIns="0" rtlCol="0" anchor="t">
            <a:spAutoFit/>
          </a:bodyPr>
          <a:lstStyle/>
          <a:p>
            <a:pPr marL="0" lvl="0" indent="0" algn="r">
              <a:lnSpc>
                <a:spcPts val="2520"/>
              </a:lnSpc>
              <a:spcBef>
                <a:spcPct val="0"/>
              </a:spcBef>
            </a:pPr>
            <a:r>
              <a:rPr lang="en-US" sz="1800" i="1" spc="-72">
                <a:solidFill>
                  <a:srgbClr val="000000"/>
                </a:solidFill>
                <a:latin typeface="Inter 2 Italics"/>
                <a:ea typeface="Inter 2 Italics"/>
                <a:cs typeface="Inter 2 Italics"/>
                <a:sym typeface="Inter 2 Italics"/>
              </a:rPr>
              <a:t>VISUAL ANALYSIS</a:t>
            </a:r>
          </a:p>
        </p:txBody>
      </p:sp>
      <p:sp>
        <p:nvSpPr>
          <p:cNvPr id="8" name="TextBox 5">
            <a:extLst>
              <a:ext uri="{FF2B5EF4-FFF2-40B4-BE49-F238E27FC236}">
                <a16:creationId xmlns:a16="http://schemas.microsoft.com/office/drawing/2014/main" id="{4F2B576B-9E14-95CA-B6F4-49C8AF3F1968}"/>
              </a:ext>
            </a:extLst>
          </p:cNvPr>
          <p:cNvSpPr txBox="1"/>
          <p:nvPr/>
        </p:nvSpPr>
        <p:spPr>
          <a:xfrm>
            <a:off x="457200" y="395008"/>
            <a:ext cx="11808726" cy="630557"/>
          </a:xfrm>
          <a:prstGeom prst="rect">
            <a:avLst/>
          </a:prstGeom>
        </p:spPr>
        <p:txBody>
          <a:bodyPr lIns="0" tIns="0" rIns="0" bIns="0" rtlCol="0" anchor="t">
            <a:spAutoFit/>
          </a:bodyPr>
          <a:lstStyle/>
          <a:p>
            <a:pPr marL="0" lvl="0" indent="0" algn="l">
              <a:lnSpc>
                <a:spcPts val="4760"/>
              </a:lnSpc>
              <a:spcBef>
                <a:spcPct val="0"/>
              </a:spcBef>
            </a:pPr>
            <a:r>
              <a:rPr lang="en-US" sz="5600" spc="-420" dirty="0">
                <a:solidFill>
                  <a:srgbClr val="000000"/>
                </a:solidFill>
                <a:latin typeface="Inter 2"/>
                <a:ea typeface="Inter 2"/>
                <a:cs typeface="Inter 2"/>
                <a:sym typeface="Inter 2"/>
              </a:rPr>
              <a:t>Cross-Sectional Relationship:</a:t>
            </a:r>
          </a:p>
        </p:txBody>
      </p:sp>
    </p:spTree>
    <p:extLst>
      <p:ext uri="{BB962C8B-B14F-4D97-AF65-F5344CB8AC3E}">
        <p14:creationId xmlns:p14="http://schemas.microsoft.com/office/powerpoint/2010/main" val="43858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EEEC"/>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32431" y="4605338"/>
            <a:ext cx="10730064" cy="1076325"/>
            <a:chOff x="0" y="0"/>
            <a:chExt cx="3845413" cy="385731"/>
          </a:xfrm>
        </p:grpSpPr>
        <p:sp>
          <p:nvSpPr>
            <p:cNvPr id="3" name="Freeform 3"/>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2308938" y="1462963"/>
            <a:ext cx="11803232" cy="614134"/>
          </a:xfrm>
          <a:prstGeom prst="rect">
            <a:avLst/>
          </a:prstGeom>
        </p:spPr>
        <p:txBody>
          <a:bodyPr lIns="0" tIns="0" rIns="0" bIns="0" rtlCol="0" anchor="t">
            <a:spAutoFit/>
          </a:bodyPr>
          <a:lstStyle/>
          <a:p>
            <a:pPr marL="0" lvl="0" indent="0" algn="l">
              <a:lnSpc>
                <a:spcPts val="5000"/>
              </a:lnSpc>
              <a:spcBef>
                <a:spcPct val="0"/>
              </a:spcBef>
            </a:pPr>
            <a:r>
              <a:rPr lang="en-US" sz="3571" spc="-267">
                <a:solidFill>
                  <a:srgbClr val="000000"/>
                </a:solidFill>
                <a:latin typeface="Inter 2 Light"/>
                <a:ea typeface="Inter 2 Light"/>
                <a:cs typeface="Inter 2 Light"/>
                <a:sym typeface="Inter 2 Light"/>
              </a:rPr>
              <a:t>LONG-RUN GLOBAL TRNEDS</a:t>
            </a:r>
          </a:p>
        </p:txBody>
      </p:sp>
      <p:sp>
        <p:nvSpPr>
          <p:cNvPr id="6" name="TextBox 6"/>
          <p:cNvSpPr txBox="1"/>
          <p:nvPr/>
        </p:nvSpPr>
        <p:spPr>
          <a:xfrm>
            <a:off x="2308938" y="2253723"/>
            <a:ext cx="10685901" cy="1590545"/>
          </a:xfrm>
          <a:prstGeom prst="rect">
            <a:avLst/>
          </a:prstGeom>
        </p:spPr>
        <p:txBody>
          <a:bodyPr lIns="0" tIns="0" rIns="0" bIns="0" rtlCol="0" anchor="t">
            <a:spAutoFit/>
          </a:bodyPr>
          <a:lstStyle/>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Life expectancy: slow 19th-century rise → sharp 20th-century jump.</a:t>
            </a:r>
          </a:p>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GDP per capita: gradual early growth → rapid mid-20th-century increase.</a:t>
            </a:r>
          </a:p>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Both rise together over time.</a:t>
            </a:r>
          </a:p>
          <a:p>
            <a:pPr marL="0" lvl="0" indent="0" algn="just">
              <a:lnSpc>
                <a:spcPts val="3157"/>
              </a:lnSpc>
              <a:spcBef>
                <a:spcPct val="0"/>
              </a:spcBef>
            </a:pPr>
            <a:endParaRPr lang="en-US" sz="2255" u="none" strike="noStrike" spc="-49">
              <a:solidFill>
                <a:srgbClr val="000000"/>
              </a:solidFill>
              <a:latin typeface="Inter 2"/>
              <a:ea typeface="Inter 2"/>
              <a:cs typeface="Inter 2"/>
              <a:sym typeface="Inter 2"/>
            </a:endParaRPr>
          </a:p>
        </p:txBody>
      </p:sp>
      <p:sp>
        <p:nvSpPr>
          <p:cNvPr id="7" name="TextBox 7"/>
          <p:cNvSpPr txBox="1"/>
          <p:nvPr/>
        </p:nvSpPr>
        <p:spPr>
          <a:xfrm>
            <a:off x="2308938" y="4339568"/>
            <a:ext cx="12969142" cy="614134"/>
          </a:xfrm>
          <a:prstGeom prst="rect">
            <a:avLst/>
          </a:prstGeom>
        </p:spPr>
        <p:txBody>
          <a:bodyPr lIns="0" tIns="0" rIns="0" bIns="0" rtlCol="0" anchor="t">
            <a:spAutoFit/>
          </a:bodyPr>
          <a:lstStyle/>
          <a:p>
            <a:pPr marL="0" lvl="0" indent="0" algn="l">
              <a:lnSpc>
                <a:spcPts val="5000"/>
              </a:lnSpc>
              <a:spcBef>
                <a:spcPct val="0"/>
              </a:spcBef>
            </a:pPr>
            <a:r>
              <a:rPr lang="en-US" sz="3571" spc="-267">
                <a:solidFill>
                  <a:srgbClr val="000000"/>
                </a:solidFill>
                <a:latin typeface="Inter 2 Light"/>
                <a:ea typeface="Inter 2 Light"/>
                <a:cs typeface="Inter 2 Light"/>
                <a:sym typeface="Inter 2 Light"/>
              </a:rPr>
              <a:t>NON-LINEAR RELATIONSHIP</a:t>
            </a:r>
          </a:p>
        </p:txBody>
      </p:sp>
      <p:sp>
        <p:nvSpPr>
          <p:cNvPr id="8" name="TextBox 8"/>
          <p:cNvSpPr txBox="1"/>
          <p:nvPr/>
        </p:nvSpPr>
        <p:spPr>
          <a:xfrm>
            <a:off x="2308938" y="5125497"/>
            <a:ext cx="10685901" cy="1590545"/>
          </a:xfrm>
          <a:prstGeom prst="rect">
            <a:avLst/>
          </a:prstGeom>
        </p:spPr>
        <p:txBody>
          <a:bodyPr lIns="0" tIns="0" rIns="0" bIns="0" rtlCol="0" anchor="t">
            <a:spAutoFit/>
          </a:bodyPr>
          <a:lstStyle/>
          <a:p>
            <a:pPr marL="486883" lvl="1" indent="-243441" algn="just">
              <a:lnSpc>
                <a:spcPts val="3157"/>
              </a:lnSpc>
              <a:spcBef>
                <a:spcPct val="0"/>
              </a:spcBef>
              <a:buFont typeface="Arial"/>
              <a:buChar char="•"/>
            </a:pPr>
            <a:r>
              <a:rPr lang="en-US" sz="2255" spc="-49">
                <a:solidFill>
                  <a:srgbClr val="000000"/>
                </a:solidFill>
                <a:latin typeface="Inter 2"/>
                <a:ea typeface="Inter 2"/>
                <a:cs typeface="Inter 2"/>
                <a:sym typeface="Inter 2"/>
              </a:rPr>
              <a:t>P</a:t>
            </a:r>
            <a:r>
              <a:rPr lang="en-US" sz="2255" u="none" strike="noStrike" spc="-49">
                <a:solidFill>
                  <a:srgbClr val="000000"/>
                </a:solidFill>
                <a:latin typeface="Inter 2"/>
                <a:ea typeface="Inter 2"/>
                <a:cs typeface="Inter 2"/>
                <a:sym typeface="Inter 2"/>
              </a:rPr>
              <a:t>ositive but non-linear link.</a:t>
            </a:r>
          </a:p>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Low-income: big health gains from small GDP increases.</a:t>
            </a:r>
          </a:p>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High-income: small health gains despite large GDP growth.</a:t>
            </a:r>
          </a:p>
          <a:p>
            <a:pPr marL="0" lvl="0" indent="0" algn="just">
              <a:lnSpc>
                <a:spcPts val="3157"/>
              </a:lnSpc>
              <a:spcBef>
                <a:spcPct val="0"/>
              </a:spcBef>
            </a:pPr>
            <a:endParaRPr lang="en-US" sz="2255" u="none" strike="noStrike" spc="-49">
              <a:solidFill>
                <a:srgbClr val="000000"/>
              </a:solidFill>
              <a:latin typeface="Inter 2"/>
              <a:ea typeface="Inter 2"/>
              <a:cs typeface="Inter 2"/>
              <a:sym typeface="Inter 2"/>
            </a:endParaRPr>
          </a:p>
        </p:txBody>
      </p:sp>
      <p:sp>
        <p:nvSpPr>
          <p:cNvPr id="9" name="TextBox 9"/>
          <p:cNvSpPr txBox="1"/>
          <p:nvPr/>
        </p:nvSpPr>
        <p:spPr>
          <a:xfrm>
            <a:off x="13402382" y="993352"/>
            <a:ext cx="2850172" cy="306705"/>
          </a:xfrm>
          <a:prstGeom prst="rect">
            <a:avLst/>
          </a:prstGeom>
        </p:spPr>
        <p:txBody>
          <a:bodyPr lIns="0" tIns="0" rIns="0" bIns="0" rtlCol="0" anchor="t">
            <a:spAutoFit/>
          </a:bodyPr>
          <a:lstStyle/>
          <a:p>
            <a:pPr marL="0" lvl="0" indent="0" algn="r">
              <a:lnSpc>
                <a:spcPts val="2520"/>
              </a:lnSpc>
              <a:spcBef>
                <a:spcPct val="0"/>
              </a:spcBef>
            </a:pPr>
            <a:r>
              <a:rPr lang="en-US" sz="1800" spc="-72">
                <a:solidFill>
                  <a:srgbClr val="000000"/>
                </a:solidFill>
                <a:latin typeface="Inter 2"/>
                <a:ea typeface="Inter 2"/>
                <a:cs typeface="Inter 2"/>
                <a:sym typeface="Inter 2"/>
              </a:rPr>
              <a:t>CONCLUSION</a:t>
            </a:r>
          </a:p>
        </p:txBody>
      </p:sp>
      <p:sp>
        <p:nvSpPr>
          <p:cNvPr id="10" name="TextBox 10"/>
          <p:cNvSpPr txBox="1"/>
          <p:nvPr/>
        </p:nvSpPr>
        <p:spPr>
          <a:xfrm>
            <a:off x="2308938" y="586366"/>
            <a:ext cx="7959169" cy="668020"/>
          </a:xfrm>
          <a:prstGeom prst="rect">
            <a:avLst/>
          </a:prstGeom>
        </p:spPr>
        <p:txBody>
          <a:bodyPr lIns="0" tIns="0" rIns="0" bIns="0" rtlCol="0" anchor="t">
            <a:spAutoFit/>
          </a:bodyPr>
          <a:lstStyle/>
          <a:p>
            <a:pPr algn="l">
              <a:lnSpc>
                <a:spcPts val="4760"/>
              </a:lnSpc>
            </a:pPr>
            <a:r>
              <a:rPr lang="en-US" sz="5600" spc="-420">
                <a:solidFill>
                  <a:srgbClr val="000000"/>
                </a:solidFill>
                <a:latin typeface="Inter 2"/>
                <a:ea typeface="Inter 2"/>
                <a:cs typeface="Inter 2"/>
                <a:sym typeface="Inter 2"/>
              </a:rPr>
              <a:t>Summary of findings</a:t>
            </a:r>
          </a:p>
        </p:txBody>
      </p:sp>
      <p:grpSp>
        <p:nvGrpSpPr>
          <p:cNvPr id="11" name="Group 11"/>
          <p:cNvGrpSpPr/>
          <p:nvPr/>
        </p:nvGrpSpPr>
        <p:grpSpPr>
          <a:xfrm rot="5400000">
            <a:off x="-5081005" y="3788086"/>
            <a:ext cx="10730064" cy="2710829"/>
            <a:chOff x="0" y="0"/>
            <a:chExt cx="3845413" cy="971500"/>
          </a:xfrm>
        </p:grpSpPr>
        <p:sp>
          <p:nvSpPr>
            <p:cNvPr id="12" name="Freeform 12"/>
            <p:cNvSpPr/>
            <p:nvPr/>
          </p:nvSpPr>
          <p:spPr>
            <a:xfrm>
              <a:off x="0" y="0"/>
              <a:ext cx="3845413" cy="971500"/>
            </a:xfrm>
            <a:custGeom>
              <a:avLst/>
              <a:gdLst/>
              <a:ahLst/>
              <a:cxnLst/>
              <a:rect l="l" t="t" r="r" b="b"/>
              <a:pathLst>
                <a:path w="3845413" h="971500">
                  <a:moveTo>
                    <a:pt x="0" y="0"/>
                  </a:moveTo>
                  <a:lnTo>
                    <a:pt x="3845413" y="0"/>
                  </a:lnTo>
                  <a:lnTo>
                    <a:pt x="3845413" y="971500"/>
                  </a:lnTo>
                  <a:lnTo>
                    <a:pt x="0" y="971500"/>
                  </a:lnTo>
                  <a:close/>
                </a:path>
              </a:pathLst>
            </a:custGeom>
            <a:solidFill>
              <a:srgbClr val="F6F5F3"/>
            </a:solidFill>
            <a:ln w="9525" cap="sq">
              <a:solidFill>
                <a:srgbClr val="403E3E"/>
              </a:solidFill>
              <a:prstDash val="solid"/>
              <a:miter/>
            </a:ln>
          </p:spPr>
          <p:txBody>
            <a:bodyPr/>
            <a:lstStyle/>
            <a:p>
              <a:endParaRPr lang="en-SG"/>
            </a:p>
          </p:txBody>
        </p:sp>
        <p:sp>
          <p:nvSpPr>
            <p:cNvPr id="13" name="TextBox 13"/>
            <p:cNvSpPr txBox="1"/>
            <p:nvPr/>
          </p:nvSpPr>
          <p:spPr>
            <a:xfrm>
              <a:off x="0" y="-47625"/>
              <a:ext cx="3845413" cy="1019125"/>
            </a:xfrm>
            <a:prstGeom prst="rect">
              <a:avLst/>
            </a:prstGeom>
          </p:spPr>
          <p:txBody>
            <a:bodyPr lIns="50800" tIns="50800" rIns="50800" bIns="50800" rtlCol="0" anchor="ctr"/>
            <a:lstStyle/>
            <a:p>
              <a:pPr algn="ctr">
                <a:lnSpc>
                  <a:spcPts val="1960"/>
                </a:lnSpc>
              </a:pPr>
              <a:endParaRPr/>
            </a:p>
          </p:txBody>
        </p:sp>
      </p:grpSp>
      <p:sp>
        <p:nvSpPr>
          <p:cNvPr id="14" name="Freeform 14"/>
          <p:cNvSpPr/>
          <p:nvPr/>
        </p:nvSpPr>
        <p:spPr>
          <a:xfrm>
            <a:off x="1165251" y="405391"/>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
        <p:nvSpPr>
          <p:cNvPr id="15" name="TextBox 15"/>
          <p:cNvSpPr txBox="1"/>
          <p:nvPr/>
        </p:nvSpPr>
        <p:spPr>
          <a:xfrm>
            <a:off x="2308938" y="7213456"/>
            <a:ext cx="12969142" cy="614134"/>
          </a:xfrm>
          <a:prstGeom prst="rect">
            <a:avLst/>
          </a:prstGeom>
        </p:spPr>
        <p:txBody>
          <a:bodyPr lIns="0" tIns="0" rIns="0" bIns="0" rtlCol="0" anchor="t">
            <a:spAutoFit/>
          </a:bodyPr>
          <a:lstStyle/>
          <a:p>
            <a:pPr marL="0" lvl="0" indent="0" algn="l">
              <a:lnSpc>
                <a:spcPts val="5000"/>
              </a:lnSpc>
              <a:spcBef>
                <a:spcPct val="0"/>
              </a:spcBef>
            </a:pPr>
            <a:r>
              <a:rPr lang="en-US" sz="3571" spc="-267">
                <a:solidFill>
                  <a:srgbClr val="000000"/>
                </a:solidFill>
                <a:latin typeface="Inter 2 Light"/>
                <a:ea typeface="Inter 2 Light"/>
                <a:cs typeface="Inter 2 Light"/>
                <a:sym typeface="Inter 2 Light"/>
              </a:rPr>
              <a:t>INCOME GROUP DIFFERENCES</a:t>
            </a:r>
          </a:p>
        </p:txBody>
      </p:sp>
      <p:sp>
        <p:nvSpPr>
          <p:cNvPr id="16" name="TextBox 16"/>
          <p:cNvSpPr txBox="1"/>
          <p:nvPr/>
        </p:nvSpPr>
        <p:spPr>
          <a:xfrm>
            <a:off x="2308938" y="7999385"/>
            <a:ext cx="10685901" cy="1590545"/>
          </a:xfrm>
          <a:prstGeom prst="rect">
            <a:avLst/>
          </a:prstGeom>
        </p:spPr>
        <p:txBody>
          <a:bodyPr lIns="0" tIns="0" rIns="0" bIns="0" rtlCol="0" anchor="t">
            <a:spAutoFit/>
          </a:bodyPr>
          <a:lstStyle/>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Low-income: lowest medians, widest spread → unequal health access.</a:t>
            </a:r>
          </a:p>
          <a:p>
            <a:pPr marL="486883" lvl="1" indent="-243441" algn="just">
              <a:lnSpc>
                <a:spcPts val="3157"/>
              </a:lnSpc>
              <a:spcBef>
                <a:spcPct val="0"/>
              </a:spcBef>
              <a:buFont typeface="Arial"/>
              <a:buChar char="•"/>
            </a:pPr>
            <a:r>
              <a:rPr lang="en-US" sz="2255" u="none" strike="noStrike" spc="-49">
                <a:solidFill>
                  <a:srgbClr val="000000"/>
                </a:solidFill>
                <a:latin typeface="Inter 2"/>
                <a:ea typeface="Inter 2"/>
                <a:cs typeface="Inter 2"/>
                <a:sym typeface="Inter 2"/>
              </a:rPr>
              <a:t>Upper-middle/high-income: higher medians, narrow spread → more uniform conditions.</a:t>
            </a:r>
          </a:p>
          <a:p>
            <a:pPr marL="0" lvl="0" indent="0" algn="just">
              <a:lnSpc>
                <a:spcPts val="3157"/>
              </a:lnSpc>
              <a:spcBef>
                <a:spcPct val="0"/>
              </a:spcBef>
            </a:pPr>
            <a:endParaRPr lang="en-US" sz="2255" u="none" strike="noStrike" spc="-49">
              <a:solidFill>
                <a:srgbClr val="000000"/>
              </a:solidFill>
              <a:latin typeface="Inter 2"/>
              <a:ea typeface="Inter 2"/>
              <a:cs typeface="Inter 2"/>
              <a:sym typeface="Inter 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EEEC"/>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32431" y="4605338"/>
            <a:ext cx="10730064" cy="1076325"/>
            <a:chOff x="0" y="0"/>
            <a:chExt cx="3845413" cy="385731"/>
          </a:xfrm>
        </p:grpSpPr>
        <p:sp>
          <p:nvSpPr>
            <p:cNvPr id="3" name="Freeform 3"/>
            <p:cNvSpPr/>
            <p:nvPr/>
          </p:nvSpPr>
          <p:spPr>
            <a:xfrm>
              <a:off x="0" y="0"/>
              <a:ext cx="3845413" cy="385731"/>
            </a:xfrm>
            <a:custGeom>
              <a:avLst/>
              <a:gdLst/>
              <a:ahLst/>
              <a:cxnLst/>
              <a:rect l="l" t="t" r="r" b="b"/>
              <a:pathLst>
                <a:path w="3845413" h="385731">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txBody>
            <a:bodyPr/>
            <a:lstStyle/>
            <a:p>
              <a:endParaRPr lang="en-SG"/>
            </a:p>
          </p:txBody>
        </p:sp>
        <p:sp>
          <p:nvSpPr>
            <p:cNvPr id="4" name="TextBox 4"/>
            <p:cNvSpPr txBox="1"/>
            <p:nvPr/>
          </p:nvSpPr>
          <p:spPr>
            <a:xfrm>
              <a:off x="0" y="-47625"/>
              <a:ext cx="3845413" cy="433356"/>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2308938" y="1878493"/>
            <a:ext cx="12518530" cy="4667106"/>
          </a:xfrm>
          <a:prstGeom prst="rect">
            <a:avLst/>
          </a:prstGeom>
        </p:spPr>
        <p:txBody>
          <a:bodyPr lIns="0" tIns="0" rIns="0" bIns="0" rtlCol="0" anchor="t">
            <a:spAutoFit/>
          </a:bodyPr>
          <a:lstStyle/>
          <a:p>
            <a:pPr marL="570383" lvl="1" indent="-285191" algn="just">
              <a:lnSpc>
                <a:spcPts val="3698"/>
              </a:lnSpc>
              <a:spcBef>
                <a:spcPct val="0"/>
              </a:spcBef>
              <a:buFont typeface="Arial"/>
              <a:buChar char="•"/>
            </a:pPr>
            <a:r>
              <a:rPr lang="en-US" sz="2641" spc="-58">
                <a:solidFill>
                  <a:srgbClr val="000000"/>
                </a:solidFill>
                <a:latin typeface="Inter 2"/>
                <a:ea typeface="Inter 2"/>
                <a:cs typeface="Inter 2"/>
                <a:sym typeface="Inter 2"/>
              </a:rPr>
              <a:t>H</a:t>
            </a:r>
            <a:r>
              <a:rPr lang="en-US" sz="2641" u="none" strike="noStrike" spc="-58">
                <a:solidFill>
                  <a:srgbClr val="000000"/>
                </a:solidFill>
                <a:latin typeface="Inter 2"/>
                <a:ea typeface="Inter 2"/>
                <a:cs typeface="Inter 2"/>
                <a:sym typeface="Inter 2"/>
              </a:rPr>
              <a:t>istorical data, especially before the 20th century, rely on reconstructed estimates and may be incomplete or inaccurate.</a:t>
            </a:r>
          </a:p>
          <a:p>
            <a:pPr marL="570383" lvl="1" indent="-285191" algn="just">
              <a:lnSpc>
                <a:spcPts val="3698"/>
              </a:lnSpc>
              <a:spcBef>
                <a:spcPct val="0"/>
              </a:spcBef>
              <a:buFont typeface="Arial"/>
              <a:buChar char="•"/>
            </a:pPr>
            <a:r>
              <a:rPr lang="en-US" sz="2641" u="none" strike="noStrike" spc="-58">
                <a:solidFill>
                  <a:srgbClr val="000000"/>
                </a:solidFill>
                <a:latin typeface="Inter 2"/>
                <a:ea typeface="Inter 2"/>
                <a:cs typeface="Inter 2"/>
                <a:sym typeface="Inter 2"/>
              </a:rPr>
              <a:t>GDP per capita and life expectancy capture only broad trends and exclude deeper dimensions of wellbeing such as inequality, morbidity, and quality of life.</a:t>
            </a:r>
          </a:p>
          <a:p>
            <a:pPr marL="570383" lvl="1" indent="-285191" algn="just">
              <a:lnSpc>
                <a:spcPts val="3698"/>
              </a:lnSpc>
              <a:spcBef>
                <a:spcPct val="0"/>
              </a:spcBef>
              <a:buFont typeface="Arial"/>
              <a:buChar char="•"/>
            </a:pPr>
            <a:r>
              <a:rPr lang="en-US" sz="2641" u="none" strike="noStrike" spc="-58">
                <a:solidFill>
                  <a:srgbClr val="000000"/>
                </a:solidFill>
                <a:latin typeface="Inter 2"/>
                <a:ea typeface="Inter 2"/>
                <a:cs typeface="Inter 2"/>
                <a:sym typeface="Inter 2"/>
              </a:rPr>
              <a:t>The analysis is descriptive and does not account for underlying drivers (e.g., education, health systems).</a:t>
            </a:r>
          </a:p>
          <a:p>
            <a:pPr marL="570383" lvl="1" indent="-285191" algn="just">
              <a:lnSpc>
                <a:spcPts val="3698"/>
              </a:lnSpc>
              <a:spcBef>
                <a:spcPct val="0"/>
              </a:spcBef>
              <a:buFont typeface="Arial"/>
              <a:buChar char="•"/>
            </a:pPr>
            <a:r>
              <a:rPr lang="en-US" sz="2641" u="none" strike="noStrike" spc="-58">
                <a:solidFill>
                  <a:srgbClr val="000000"/>
                </a:solidFill>
                <a:latin typeface="Inter 2"/>
                <a:ea typeface="Inter 2"/>
                <a:cs typeface="Inter 2"/>
                <a:sym typeface="Inter 2"/>
              </a:rPr>
              <a:t>Income-group classifications simplify a complex reality, as similar GDP levels can mask very different health outcomes.</a:t>
            </a:r>
          </a:p>
          <a:p>
            <a:pPr marL="0" lvl="0" indent="0" algn="just">
              <a:lnSpc>
                <a:spcPts val="3698"/>
              </a:lnSpc>
              <a:spcBef>
                <a:spcPct val="0"/>
              </a:spcBef>
            </a:pPr>
            <a:endParaRPr lang="en-US" sz="2641" u="none" strike="noStrike" spc="-58">
              <a:solidFill>
                <a:srgbClr val="000000"/>
              </a:solidFill>
              <a:latin typeface="Inter 2"/>
              <a:ea typeface="Inter 2"/>
              <a:cs typeface="Inter 2"/>
              <a:sym typeface="Inter 2"/>
            </a:endParaRPr>
          </a:p>
        </p:txBody>
      </p:sp>
      <p:sp>
        <p:nvSpPr>
          <p:cNvPr id="6" name="TextBox 6"/>
          <p:cNvSpPr txBox="1"/>
          <p:nvPr/>
        </p:nvSpPr>
        <p:spPr>
          <a:xfrm>
            <a:off x="13402382" y="993352"/>
            <a:ext cx="2850172" cy="306705"/>
          </a:xfrm>
          <a:prstGeom prst="rect">
            <a:avLst/>
          </a:prstGeom>
        </p:spPr>
        <p:txBody>
          <a:bodyPr lIns="0" tIns="0" rIns="0" bIns="0" rtlCol="0" anchor="t">
            <a:spAutoFit/>
          </a:bodyPr>
          <a:lstStyle/>
          <a:p>
            <a:pPr marL="0" lvl="0" indent="0" algn="r">
              <a:lnSpc>
                <a:spcPts val="2520"/>
              </a:lnSpc>
              <a:spcBef>
                <a:spcPct val="0"/>
              </a:spcBef>
            </a:pPr>
            <a:r>
              <a:rPr lang="en-US" sz="1800" spc="-72">
                <a:solidFill>
                  <a:srgbClr val="000000"/>
                </a:solidFill>
                <a:latin typeface="Inter 2"/>
                <a:ea typeface="Inter 2"/>
                <a:cs typeface="Inter 2"/>
                <a:sym typeface="Inter 2"/>
              </a:rPr>
              <a:t>CONCLUSION</a:t>
            </a:r>
          </a:p>
        </p:txBody>
      </p:sp>
      <p:sp>
        <p:nvSpPr>
          <p:cNvPr id="7" name="TextBox 7"/>
          <p:cNvSpPr txBox="1"/>
          <p:nvPr/>
        </p:nvSpPr>
        <p:spPr>
          <a:xfrm>
            <a:off x="2308938" y="586366"/>
            <a:ext cx="7959169" cy="668020"/>
          </a:xfrm>
          <a:prstGeom prst="rect">
            <a:avLst/>
          </a:prstGeom>
        </p:spPr>
        <p:txBody>
          <a:bodyPr lIns="0" tIns="0" rIns="0" bIns="0" rtlCol="0" anchor="t">
            <a:spAutoFit/>
          </a:bodyPr>
          <a:lstStyle/>
          <a:p>
            <a:pPr algn="l">
              <a:lnSpc>
                <a:spcPts val="4760"/>
              </a:lnSpc>
            </a:pPr>
            <a:r>
              <a:rPr lang="en-US" sz="5600" spc="-420">
                <a:solidFill>
                  <a:srgbClr val="000000"/>
                </a:solidFill>
                <a:latin typeface="Inter 2"/>
                <a:ea typeface="Inter 2"/>
                <a:cs typeface="Inter 2"/>
                <a:sym typeface="Inter 2"/>
              </a:rPr>
              <a:t>Limitation of Analysis</a:t>
            </a:r>
          </a:p>
        </p:txBody>
      </p:sp>
      <p:grpSp>
        <p:nvGrpSpPr>
          <p:cNvPr id="8" name="Group 8"/>
          <p:cNvGrpSpPr/>
          <p:nvPr/>
        </p:nvGrpSpPr>
        <p:grpSpPr>
          <a:xfrm rot="5400000">
            <a:off x="-5081005" y="3788086"/>
            <a:ext cx="10730064" cy="2710829"/>
            <a:chOff x="0" y="0"/>
            <a:chExt cx="3845413" cy="971500"/>
          </a:xfrm>
        </p:grpSpPr>
        <p:sp>
          <p:nvSpPr>
            <p:cNvPr id="9" name="Freeform 9"/>
            <p:cNvSpPr/>
            <p:nvPr/>
          </p:nvSpPr>
          <p:spPr>
            <a:xfrm>
              <a:off x="0" y="0"/>
              <a:ext cx="3845413" cy="971500"/>
            </a:xfrm>
            <a:custGeom>
              <a:avLst/>
              <a:gdLst/>
              <a:ahLst/>
              <a:cxnLst/>
              <a:rect l="l" t="t" r="r" b="b"/>
              <a:pathLst>
                <a:path w="3845413" h="971500">
                  <a:moveTo>
                    <a:pt x="0" y="0"/>
                  </a:moveTo>
                  <a:lnTo>
                    <a:pt x="3845413" y="0"/>
                  </a:lnTo>
                  <a:lnTo>
                    <a:pt x="3845413" y="971500"/>
                  </a:lnTo>
                  <a:lnTo>
                    <a:pt x="0" y="971500"/>
                  </a:lnTo>
                  <a:close/>
                </a:path>
              </a:pathLst>
            </a:custGeom>
            <a:solidFill>
              <a:srgbClr val="F6F5F3"/>
            </a:solidFill>
            <a:ln w="9525" cap="sq">
              <a:solidFill>
                <a:srgbClr val="403E3E"/>
              </a:solidFill>
              <a:prstDash val="solid"/>
              <a:miter/>
            </a:ln>
          </p:spPr>
          <p:txBody>
            <a:bodyPr/>
            <a:lstStyle/>
            <a:p>
              <a:endParaRPr lang="en-SG"/>
            </a:p>
          </p:txBody>
        </p:sp>
        <p:sp>
          <p:nvSpPr>
            <p:cNvPr id="10" name="TextBox 10"/>
            <p:cNvSpPr txBox="1"/>
            <p:nvPr/>
          </p:nvSpPr>
          <p:spPr>
            <a:xfrm>
              <a:off x="0" y="-47625"/>
              <a:ext cx="3845413" cy="1019125"/>
            </a:xfrm>
            <a:prstGeom prst="rect">
              <a:avLst/>
            </a:prstGeom>
          </p:spPr>
          <p:txBody>
            <a:bodyPr lIns="50800" tIns="50800" rIns="50800" bIns="50800" rtlCol="0" anchor="ctr"/>
            <a:lstStyle/>
            <a:p>
              <a:pPr algn="ctr">
                <a:lnSpc>
                  <a:spcPts val="1960"/>
                </a:lnSpc>
              </a:pPr>
              <a:endParaRPr/>
            </a:p>
          </p:txBody>
        </p:sp>
      </p:grpSp>
      <p:sp>
        <p:nvSpPr>
          <p:cNvPr id="11" name="Freeform 11"/>
          <p:cNvSpPr/>
          <p:nvPr/>
        </p:nvSpPr>
        <p:spPr>
          <a:xfrm>
            <a:off x="1165251" y="405391"/>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FEEEC"/>
        </a:solidFill>
        <a:effectLst/>
      </p:bgPr>
    </p:bg>
    <p:spTree>
      <p:nvGrpSpPr>
        <p:cNvPr id="1" name=""/>
        <p:cNvGrpSpPr/>
        <p:nvPr/>
      </p:nvGrpSpPr>
      <p:grpSpPr>
        <a:xfrm>
          <a:off x="0" y="0"/>
          <a:ext cx="0" cy="0"/>
          <a:chOff x="0" y="0"/>
          <a:chExt cx="0" cy="0"/>
        </a:xfrm>
      </p:grpSpPr>
      <p:sp>
        <p:nvSpPr>
          <p:cNvPr id="2" name="TextBox 2"/>
          <p:cNvSpPr txBox="1"/>
          <p:nvPr/>
        </p:nvSpPr>
        <p:spPr>
          <a:xfrm>
            <a:off x="8836002" y="3814731"/>
            <a:ext cx="7553325" cy="1025521"/>
          </a:xfrm>
          <a:prstGeom prst="rect">
            <a:avLst/>
          </a:prstGeom>
        </p:spPr>
        <p:txBody>
          <a:bodyPr lIns="0" tIns="0" rIns="0" bIns="0" rtlCol="0" anchor="t">
            <a:spAutoFit/>
          </a:bodyPr>
          <a:lstStyle/>
          <a:p>
            <a:pPr algn="r">
              <a:lnSpc>
                <a:spcPts val="7224"/>
              </a:lnSpc>
            </a:pPr>
            <a:r>
              <a:rPr lang="en-US" sz="8499" b="1" u="sng" spc="-637">
                <a:solidFill>
                  <a:srgbClr val="000000"/>
                </a:solidFill>
                <a:latin typeface="Inter 2 Bold"/>
                <a:ea typeface="Inter 2 Bold"/>
                <a:cs typeface="Inter 2 Bold"/>
                <a:sym typeface="Inter 2 Bold"/>
              </a:rPr>
              <a:t>THANKYOU</a:t>
            </a:r>
          </a:p>
        </p:txBody>
      </p:sp>
      <p:grpSp>
        <p:nvGrpSpPr>
          <p:cNvPr id="3" name="Group 3"/>
          <p:cNvGrpSpPr/>
          <p:nvPr/>
        </p:nvGrpSpPr>
        <p:grpSpPr>
          <a:xfrm rot="5400000">
            <a:off x="-2621133" y="2153574"/>
            <a:ext cx="10730064" cy="5979852"/>
            <a:chOff x="0" y="0"/>
            <a:chExt cx="3845413" cy="2143044"/>
          </a:xfrm>
        </p:grpSpPr>
        <p:sp>
          <p:nvSpPr>
            <p:cNvPr id="4" name="Freeform 4"/>
            <p:cNvSpPr/>
            <p:nvPr/>
          </p:nvSpPr>
          <p:spPr>
            <a:xfrm>
              <a:off x="0" y="0"/>
              <a:ext cx="3845413" cy="2143044"/>
            </a:xfrm>
            <a:custGeom>
              <a:avLst/>
              <a:gdLst/>
              <a:ahLst/>
              <a:cxnLst/>
              <a:rect l="l" t="t" r="r" b="b"/>
              <a:pathLst>
                <a:path w="3845413" h="2143044">
                  <a:moveTo>
                    <a:pt x="0" y="0"/>
                  </a:moveTo>
                  <a:lnTo>
                    <a:pt x="3845413" y="0"/>
                  </a:lnTo>
                  <a:lnTo>
                    <a:pt x="3845413" y="2143044"/>
                  </a:lnTo>
                  <a:lnTo>
                    <a:pt x="0" y="2143044"/>
                  </a:lnTo>
                  <a:close/>
                </a:path>
              </a:pathLst>
            </a:custGeom>
            <a:solidFill>
              <a:srgbClr val="F6F5F3"/>
            </a:solidFill>
            <a:ln w="9525" cap="sq">
              <a:solidFill>
                <a:srgbClr val="403E3E"/>
              </a:solidFill>
              <a:prstDash val="solid"/>
              <a:miter/>
            </a:ln>
          </p:spPr>
          <p:txBody>
            <a:bodyPr/>
            <a:lstStyle/>
            <a:p>
              <a:endParaRPr lang="en-SG"/>
            </a:p>
          </p:txBody>
        </p:sp>
        <p:sp>
          <p:nvSpPr>
            <p:cNvPr id="5" name="TextBox 5"/>
            <p:cNvSpPr txBox="1"/>
            <p:nvPr/>
          </p:nvSpPr>
          <p:spPr>
            <a:xfrm>
              <a:off x="0" y="-47625"/>
              <a:ext cx="3845413" cy="2190669"/>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a:off x="5235230" y="1031452"/>
            <a:ext cx="948381" cy="1520727"/>
          </a:xfrm>
          <a:custGeom>
            <a:avLst/>
            <a:gdLst/>
            <a:ahLst/>
            <a:cxnLst/>
            <a:rect l="l" t="t" r="r" b="b"/>
            <a:pathLst>
              <a:path w="948381" h="1520727">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1628</Words>
  <Application>Microsoft Office PowerPoint</Application>
  <PresentationFormat>Custom</PresentationFormat>
  <Paragraphs>326</Paragraphs>
  <Slides>27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27</vt:i4>
      </vt:variant>
    </vt:vector>
  </HeadingPairs>
  <TitlesOfParts>
    <vt:vector size="41" baseType="lpstr">
      <vt:lpstr>Open Sans 1</vt:lpstr>
      <vt:lpstr>Inter 2 Bold</vt:lpstr>
      <vt:lpstr>Inter 2 Italics</vt:lpstr>
      <vt:lpstr>Arial</vt:lpstr>
      <vt:lpstr>Inter 2 Light</vt:lpstr>
      <vt:lpstr>Calibri</vt:lpstr>
      <vt:lpstr>Open Sans 1 Bold</vt:lpstr>
      <vt:lpstr>Inter 1 Italics</vt:lpstr>
      <vt:lpstr>Open Sans 2 Bold</vt:lpstr>
      <vt:lpstr>Inter 2</vt:lpstr>
      <vt:lpstr>Inter 1 Bold</vt:lpstr>
      <vt:lpstr>Inter 1 Light</vt:lpstr>
      <vt:lpstr>Inter 1</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DHV CW3</dc:title>
  <dc:creator>Ling Jun</dc:creator>
  <cp:lastModifiedBy>ling jun lee</cp:lastModifiedBy>
  <cp:revision>56</cp:revision>
  <dcterms:created xsi:type="dcterms:W3CDTF">2006-08-16T00:00:00Z</dcterms:created>
  <dcterms:modified xsi:type="dcterms:W3CDTF">2025-11-25T05:43:02Z</dcterms:modified>
  <dc:identifier>DAG5frUlhPo</dc:identifier>
</cp:coreProperties>
</file>